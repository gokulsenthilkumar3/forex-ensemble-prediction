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41"/>
  </p:notesMasterIdLst>
  <p:sldIdLst>
    <p:sldId id="256" r:id="rId3"/>
    <p:sldId id="258" r:id="rId4"/>
    <p:sldId id="305" r:id="rId5"/>
    <p:sldId id="267" r:id="rId6"/>
    <p:sldId id="268" r:id="rId7"/>
    <p:sldId id="296" r:id="rId8"/>
    <p:sldId id="297" r:id="rId9"/>
    <p:sldId id="298" r:id="rId10"/>
    <p:sldId id="274" r:id="rId11"/>
    <p:sldId id="304" r:id="rId12"/>
    <p:sldId id="328" r:id="rId13"/>
    <p:sldId id="306" r:id="rId14"/>
    <p:sldId id="307" r:id="rId15"/>
    <p:sldId id="311" r:id="rId16"/>
    <p:sldId id="312" r:id="rId17"/>
    <p:sldId id="313" r:id="rId18"/>
    <p:sldId id="314" r:id="rId19"/>
    <p:sldId id="315" r:id="rId20"/>
    <p:sldId id="316" r:id="rId21"/>
    <p:sldId id="317" r:id="rId22"/>
    <p:sldId id="318" r:id="rId23"/>
    <p:sldId id="319" r:id="rId24"/>
    <p:sldId id="329" r:id="rId25"/>
    <p:sldId id="323" r:id="rId26"/>
    <p:sldId id="320" r:id="rId27"/>
    <p:sldId id="330" r:id="rId28"/>
    <p:sldId id="324" r:id="rId29"/>
    <p:sldId id="321" r:id="rId30"/>
    <p:sldId id="325" r:id="rId31"/>
    <p:sldId id="336" r:id="rId32"/>
    <p:sldId id="337" r:id="rId33"/>
    <p:sldId id="331" r:id="rId34"/>
    <p:sldId id="335" r:id="rId35"/>
    <p:sldId id="326" r:id="rId36"/>
    <p:sldId id="333" r:id="rId37"/>
    <p:sldId id="334" r:id="rId38"/>
    <p:sldId id="272" r:id="rId39"/>
    <p:sldId id="264" r:id="rId40"/>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vinkumarkavinkumar365@gmail.com" initials="k" lastIdx="1" clrIdx="0">
    <p:extLst>
      <p:ext uri="{19B8F6BF-5375-455C-9EA6-DF929625EA0E}">
        <p15:presenceInfo xmlns:p15="http://schemas.microsoft.com/office/powerpoint/2012/main" userId="e22fb67c0ab4bf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D0DB3"/>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741" autoAdjust="0"/>
  </p:normalViewPr>
  <p:slideViewPr>
    <p:cSldViewPr snapToGrid="0">
      <p:cViewPr varScale="1">
        <p:scale>
          <a:sx n="69" d="100"/>
          <a:sy n="69" d="100"/>
        </p:scale>
        <p:origin x="6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C131A455-F193-4818-AE79-AE00A2A1F820}" type="datetimeFigureOut">
              <a:rPr lang="en-IN" smtClean="0"/>
              <a:t>01-04-2025</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B1BE4CAC-417C-4825-95E9-38B40B3ACCAB}" type="slidenum">
              <a:rPr lang="en-IN" smtClean="0"/>
              <a:t>‹#›</a:t>
            </a:fld>
            <a:endParaRPr lang="en-IN"/>
          </a:p>
        </p:txBody>
      </p:sp>
    </p:spTree>
    <p:extLst>
      <p:ext uri="{BB962C8B-B14F-4D97-AF65-F5344CB8AC3E}">
        <p14:creationId xmlns:p14="http://schemas.microsoft.com/office/powerpoint/2010/main" val="357681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BE4CAC-417C-4825-95E9-38B40B3ACCAB}" type="slidenum">
              <a:rPr lang="en-IN" smtClean="0"/>
              <a:t>4</a:t>
            </a:fld>
            <a:endParaRPr lang="en-IN"/>
          </a:p>
        </p:txBody>
      </p:sp>
    </p:spTree>
    <p:extLst>
      <p:ext uri="{BB962C8B-B14F-4D97-AF65-F5344CB8AC3E}">
        <p14:creationId xmlns:p14="http://schemas.microsoft.com/office/powerpoint/2010/main" val="1592869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BE4CAC-417C-4825-95E9-38B40B3ACCAB}" type="slidenum">
              <a:rPr lang="en-IN" smtClean="0"/>
              <a:t>5</a:t>
            </a:fld>
            <a:endParaRPr lang="en-IN"/>
          </a:p>
        </p:txBody>
      </p:sp>
    </p:spTree>
    <p:extLst>
      <p:ext uri="{BB962C8B-B14F-4D97-AF65-F5344CB8AC3E}">
        <p14:creationId xmlns:p14="http://schemas.microsoft.com/office/powerpoint/2010/main" val="3487448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BE4CAC-417C-4825-95E9-38B40B3ACCAB}" type="slidenum">
              <a:rPr lang="en-IN" smtClean="0"/>
              <a:t>6</a:t>
            </a:fld>
            <a:endParaRPr lang="en-IN"/>
          </a:p>
        </p:txBody>
      </p:sp>
    </p:spTree>
    <p:extLst>
      <p:ext uri="{BB962C8B-B14F-4D97-AF65-F5344CB8AC3E}">
        <p14:creationId xmlns:p14="http://schemas.microsoft.com/office/powerpoint/2010/main" val="4063600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BE4CAC-417C-4825-95E9-38B40B3ACCAB}" type="slidenum">
              <a:rPr lang="en-IN" smtClean="0"/>
              <a:t>8</a:t>
            </a:fld>
            <a:endParaRPr lang="en-IN"/>
          </a:p>
        </p:txBody>
      </p:sp>
    </p:spTree>
    <p:extLst>
      <p:ext uri="{BB962C8B-B14F-4D97-AF65-F5344CB8AC3E}">
        <p14:creationId xmlns:p14="http://schemas.microsoft.com/office/powerpoint/2010/main" val="764747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IN" sz="3200" b="0" strike="noStrike" spc="-1">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IN" sz="3200" b="0" strike="noStrike" spc="-1">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IN" sz="3200" b="0" strike="noStrike" spc="-1">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IN" sz="3200" b="0" strike="noStrike" spc="-1">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IN" sz="3200" b="0" strike="noStrike" spc="-1">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IN" sz="3200" b="0" strike="noStrike" spc="-1">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IN"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IN"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IN" sz="3200" b="0" strike="noStrike" spc="-1">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IN"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IN"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IN"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IN" sz="4400" b="0" strike="noStrike" spc="-1">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IN" sz="3200" b="0" strike="noStrike" spc="-1">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IN" sz="3200" b="0" strike="noStrike" spc="-1">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IN" sz="3200" b="0" strike="noStrike" spc="-1">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IN" sz="3200" b="0" strike="noStrike" spc="-1">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IN" sz="3200" b="0" strike="noStrike" spc="-1">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IN"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IN"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IN" sz="4400" b="0" strike="noStrike" spc="-1">
                <a:latin typeface="Arial"/>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tile/>
        </a:blipFill>
        <a:effectLst/>
      </p:bgPr>
    </p:bg>
    <p:spTree>
      <p:nvGrpSpPr>
        <p:cNvPr id="1" name=""/>
        <p:cNvGrpSpPr/>
        <p:nvPr/>
      </p:nvGrpSpPr>
      <p:grpSpPr>
        <a:xfrm>
          <a:off x="0" y="0"/>
          <a:ext cx="0" cy="0"/>
          <a:chOff x="0" y="0"/>
          <a:chExt cx="0" cy="0"/>
        </a:xfrm>
      </p:grpSpPr>
      <p:pic>
        <p:nvPicPr>
          <p:cNvPr id="114" name="Picture 6" descr="klogo copy.png"/>
          <p:cNvPicPr/>
          <p:nvPr/>
        </p:nvPicPr>
        <p:blipFill>
          <a:blip r:embed="rId3"/>
          <a:stretch/>
        </p:blipFill>
        <p:spPr>
          <a:xfrm>
            <a:off x="1449360" y="1617310"/>
            <a:ext cx="1635480" cy="1520526"/>
          </a:xfrm>
          <a:prstGeom prst="rect">
            <a:avLst/>
          </a:prstGeom>
          <a:ln w="9360">
            <a:noFill/>
          </a:ln>
        </p:spPr>
      </p:pic>
      <p:pic>
        <p:nvPicPr>
          <p:cNvPr id="115" name="Picture 8" descr="kec2blackborder png.PNG"/>
          <p:cNvPicPr/>
          <p:nvPr/>
        </p:nvPicPr>
        <p:blipFill>
          <a:blip r:embed="rId4"/>
          <a:stretch/>
        </p:blipFill>
        <p:spPr>
          <a:xfrm>
            <a:off x="264960" y="4222800"/>
            <a:ext cx="1635480" cy="1792800"/>
          </a:xfrm>
          <a:prstGeom prst="rect">
            <a:avLst/>
          </a:prstGeom>
          <a:ln w="9360">
            <a:noFill/>
          </a:ln>
        </p:spPr>
      </p:pic>
      <p:sp>
        <p:nvSpPr>
          <p:cNvPr id="116" name="CustomShape 1"/>
          <p:cNvSpPr/>
          <p:nvPr/>
        </p:nvSpPr>
        <p:spPr>
          <a:xfrm>
            <a:off x="2894400" y="1984320"/>
            <a:ext cx="279360" cy="516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gn="ctr">
              <a:lnSpc>
                <a:spcPct val="100000"/>
              </a:lnSpc>
            </a:pPr>
            <a:r>
              <a:rPr lang="en-US" sz="2800" b="0" strike="noStrike" spc="-1">
                <a:solidFill>
                  <a:srgbClr val="000000"/>
                </a:solidFill>
                <a:latin typeface="Arial"/>
                <a:ea typeface="SimSun"/>
              </a:rPr>
              <a:t> </a:t>
            </a:r>
            <a:endParaRPr lang="en-IN" sz="2800" b="0" strike="noStrike" spc="-1">
              <a:latin typeface="Arial"/>
            </a:endParaRPr>
          </a:p>
        </p:txBody>
      </p:sp>
      <p:sp>
        <p:nvSpPr>
          <p:cNvPr id="117" name="CustomShape 2"/>
          <p:cNvSpPr/>
          <p:nvPr/>
        </p:nvSpPr>
        <p:spPr>
          <a:xfrm>
            <a:off x="3406680" y="4696853"/>
            <a:ext cx="244440" cy="501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50000"/>
              </a:lnSpc>
            </a:pPr>
            <a:r>
              <a:rPr lang="en-US" sz="1800" b="0" strike="noStrike" spc="-1">
                <a:solidFill>
                  <a:srgbClr val="000000"/>
                </a:solidFill>
                <a:latin typeface="Arial"/>
                <a:ea typeface="SimSun"/>
              </a:rPr>
              <a:t> </a:t>
            </a:r>
            <a:endParaRPr lang="en-IN" sz="1800" b="0" strike="noStrike" spc="-1">
              <a:latin typeface="Arial"/>
            </a:endParaRPr>
          </a:p>
        </p:txBody>
      </p:sp>
      <p:sp>
        <p:nvSpPr>
          <p:cNvPr id="118" name="CustomShape 3"/>
          <p:cNvSpPr/>
          <p:nvPr/>
        </p:nvSpPr>
        <p:spPr>
          <a:xfrm>
            <a:off x="3218258" y="-20548"/>
            <a:ext cx="8151480" cy="351970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50000"/>
              </a:lnSpc>
            </a:pPr>
            <a:r>
              <a:rPr lang="en-US" sz="4000" b="1" strike="noStrike" spc="-1" dirty="0">
                <a:solidFill>
                  <a:srgbClr val="0000FF"/>
                </a:solidFill>
                <a:latin typeface="Times New Roman"/>
                <a:ea typeface="SimSun"/>
              </a:rPr>
              <a:t>Kongu Engineering College</a:t>
            </a:r>
            <a:endParaRPr lang="en-IN" sz="4000" b="0" strike="noStrike" spc="-1" dirty="0">
              <a:latin typeface="Arial"/>
            </a:endParaRPr>
          </a:p>
          <a:p>
            <a:pPr algn="ctr">
              <a:lnSpc>
                <a:spcPct val="150000"/>
              </a:lnSpc>
            </a:pPr>
            <a:r>
              <a:rPr lang="en-US" sz="2800" b="1" strike="noStrike" spc="-1" dirty="0">
                <a:solidFill>
                  <a:srgbClr val="FF0000"/>
                </a:solidFill>
                <a:latin typeface="Times New Roman"/>
                <a:ea typeface="SimSun"/>
              </a:rPr>
              <a:t>Department of Computer Technology – PG</a:t>
            </a:r>
            <a:endParaRPr lang="en-IN" sz="2800" b="0" strike="noStrike" spc="-1" dirty="0">
              <a:latin typeface="Arial"/>
            </a:endParaRPr>
          </a:p>
          <a:p>
            <a:pPr algn="ctr">
              <a:lnSpc>
                <a:spcPct val="150000"/>
              </a:lnSpc>
            </a:pPr>
            <a:r>
              <a:rPr lang="en-US" sz="2800" b="1" strike="noStrike" spc="-1" dirty="0">
                <a:solidFill>
                  <a:srgbClr val="0000FF"/>
                </a:solidFill>
                <a:latin typeface="Times New Roman"/>
                <a:ea typeface="SimSun"/>
              </a:rPr>
              <a:t>M.Sc (Software Systems)</a:t>
            </a:r>
          </a:p>
          <a:p>
            <a:pPr algn="ctr">
              <a:lnSpc>
                <a:spcPct val="150000"/>
              </a:lnSpc>
            </a:pPr>
            <a:endParaRPr lang="en-IN" sz="2800" b="0" strike="noStrike" spc="-1" dirty="0">
              <a:latin typeface="Arial"/>
            </a:endParaRPr>
          </a:p>
          <a:p>
            <a:pPr algn="ctr">
              <a:lnSpc>
                <a:spcPct val="150000"/>
              </a:lnSpc>
            </a:pPr>
            <a:endParaRPr lang="en-IN" sz="2800" b="0" strike="noStrike" spc="-1" dirty="0">
              <a:latin typeface="Arial"/>
            </a:endParaRPr>
          </a:p>
        </p:txBody>
      </p:sp>
      <p:sp>
        <p:nvSpPr>
          <p:cNvPr id="119" name="CustomShape 4"/>
          <p:cNvSpPr/>
          <p:nvPr/>
        </p:nvSpPr>
        <p:spPr>
          <a:xfrm>
            <a:off x="3524400" y="2500560"/>
            <a:ext cx="8095320" cy="73323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7000"/>
              </a:lnSpc>
              <a:spcAft>
                <a:spcPts val="800"/>
              </a:spcAft>
            </a:pPr>
            <a:r>
              <a:rPr lang="en-US" sz="2000" b="1" dirty="0">
                <a:solidFill>
                  <a:schemeClr val="accent3">
                    <a:lumMod val="75000"/>
                  </a:schemeClr>
                </a:solidFill>
                <a:latin typeface="Times New Roman" panose="02020603050405020304" pitchFamily="18" charset="0"/>
                <a:ea typeface="Calibri" panose="020F0502020204030204" pitchFamily="34" charset="0"/>
                <a:cs typeface="Times New Roman" panose="02020603050405020304" pitchFamily="18" charset="0"/>
              </a:rPr>
              <a:t>ADVANCING FOREX PREDICTION WITH TRANSFORMER BASED DEEP LEARNING MODELS</a:t>
            </a:r>
            <a:endParaRPr lang="en-IN" sz="2000" dirty="0">
              <a:solidFill>
                <a:schemeClr val="accent3">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0" name="CustomShape 5"/>
          <p:cNvSpPr/>
          <p:nvPr/>
        </p:nvSpPr>
        <p:spPr>
          <a:xfrm>
            <a:off x="3869606" y="4018953"/>
            <a:ext cx="4452788" cy="1792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trike="noStrike" spc="-1" dirty="0">
                <a:solidFill>
                  <a:srgbClr val="000000"/>
                </a:solidFill>
                <a:latin typeface="Times New Roman"/>
                <a:ea typeface="黑体"/>
              </a:rPr>
              <a:t>Presented by : </a:t>
            </a:r>
            <a:endParaRPr lang="en-IN" sz="2000" b="0" strike="noStrike" spc="-1" dirty="0">
              <a:latin typeface="Arial"/>
            </a:endParaRPr>
          </a:p>
          <a:p>
            <a:pPr marL="272880" indent="-271800">
              <a:lnSpc>
                <a:spcPct val="100000"/>
              </a:lnSpc>
              <a:spcBef>
                <a:spcPts val="400"/>
              </a:spcBef>
              <a:tabLst>
                <a:tab pos="0" algn="l"/>
              </a:tabLst>
            </a:pPr>
            <a:r>
              <a:rPr lang="en-US" sz="2000" spc="-1" dirty="0">
                <a:solidFill>
                  <a:srgbClr val="000000"/>
                </a:solidFill>
                <a:latin typeface="Times New Roman"/>
                <a:ea typeface="黑体"/>
              </a:rPr>
              <a:t>     </a:t>
            </a:r>
            <a:r>
              <a:rPr lang="en-US" sz="2000" b="1" spc="-1" dirty="0">
                <a:solidFill>
                  <a:srgbClr val="000000"/>
                </a:solidFill>
                <a:latin typeface="Times New Roman"/>
                <a:ea typeface="黑体"/>
              </a:rPr>
              <a:t>GOKUL S(20ISR014),</a:t>
            </a:r>
            <a:endParaRPr lang="en-IN" sz="2000" b="1" strike="noStrike" spc="-1" dirty="0">
              <a:latin typeface="Arial"/>
            </a:endParaRPr>
          </a:p>
          <a:p>
            <a:pPr marL="272880" indent="-271800">
              <a:lnSpc>
                <a:spcPct val="100000"/>
              </a:lnSpc>
              <a:spcBef>
                <a:spcPts val="400"/>
              </a:spcBef>
              <a:tabLst>
                <a:tab pos="0" algn="l"/>
              </a:tabLst>
            </a:pPr>
            <a:r>
              <a:rPr lang="en-US" sz="2000" b="0" strike="noStrike" spc="-1" dirty="0">
                <a:solidFill>
                  <a:srgbClr val="000000"/>
                </a:solidFill>
                <a:latin typeface="Times New Roman"/>
                <a:ea typeface="黑体"/>
              </a:rPr>
              <a:t>	 Department of CT-PG,</a:t>
            </a:r>
            <a:endParaRPr lang="en-IN" sz="2000" b="0" strike="noStrike" spc="-1" dirty="0">
              <a:latin typeface="Arial"/>
            </a:endParaRPr>
          </a:p>
          <a:p>
            <a:pPr marL="272880" indent="-271800">
              <a:lnSpc>
                <a:spcPct val="100000"/>
              </a:lnSpc>
              <a:spcBef>
                <a:spcPts val="400"/>
              </a:spcBef>
              <a:tabLst>
                <a:tab pos="0" algn="l"/>
              </a:tabLst>
            </a:pPr>
            <a:r>
              <a:rPr lang="en-US" sz="2000" b="0" strike="noStrike" spc="-1" dirty="0">
                <a:solidFill>
                  <a:srgbClr val="000000"/>
                </a:solidFill>
                <a:latin typeface="Times New Roman"/>
                <a:ea typeface="黑体"/>
              </a:rPr>
              <a:t>	 Kongu Engineering College,</a:t>
            </a:r>
            <a:endParaRPr lang="en-IN" sz="2000" b="0" strike="noStrike" spc="-1" dirty="0">
              <a:latin typeface="Arial"/>
            </a:endParaRPr>
          </a:p>
          <a:p>
            <a:pPr marL="272880" indent="-271800">
              <a:lnSpc>
                <a:spcPct val="100000"/>
              </a:lnSpc>
              <a:spcBef>
                <a:spcPts val="400"/>
              </a:spcBef>
              <a:tabLst>
                <a:tab pos="0" algn="l"/>
              </a:tabLst>
            </a:pPr>
            <a:r>
              <a:rPr lang="en-US" sz="2000" b="0" strike="noStrike" spc="-1" dirty="0">
                <a:solidFill>
                  <a:srgbClr val="000000"/>
                </a:solidFill>
                <a:latin typeface="Times New Roman"/>
                <a:ea typeface="黑体"/>
              </a:rPr>
              <a:t>	 Perundurai</a:t>
            </a:r>
            <a:r>
              <a:rPr lang="en-US" sz="2000" b="0" strike="noStrike" spc="-1" dirty="0">
                <a:solidFill>
                  <a:srgbClr val="000000"/>
                </a:solidFill>
                <a:latin typeface="Arial"/>
                <a:ea typeface="黑体"/>
              </a:rPr>
              <a:t>.</a:t>
            </a:r>
            <a:endParaRPr lang="en-IN" sz="2000" b="0" strike="noStrike" spc="-1" dirty="0">
              <a:latin typeface="Arial"/>
            </a:endParaRPr>
          </a:p>
          <a:p>
            <a:pPr marL="272880" indent="-271800" algn="r">
              <a:lnSpc>
                <a:spcPct val="100000"/>
              </a:lnSpc>
              <a:spcBef>
                <a:spcPts val="400"/>
              </a:spcBef>
              <a:tabLst>
                <a:tab pos="0" algn="l"/>
              </a:tabLst>
            </a:pPr>
            <a:endParaRPr lang="en-IN" sz="2000" b="0" strike="noStrike" spc="-1" dirty="0">
              <a:latin typeface="Arial"/>
            </a:endParaRPr>
          </a:p>
        </p:txBody>
      </p:sp>
      <p:sp>
        <p:nvSpPr>
          <p:cNvPr id="2" name="CustomShape 2">
            <a:extLst>
              <a:ext uri="{FF2B5EF4-FFF2-40B4-BE49-F238E27FC236}">
                <a16:creationId xmlns:a16="http://schemas.microsoft.com/office/drawing/2014/main" id="{F6AC504B-911E-6930-84AF-8390AB395C56}"/>
              </a:ext>
            </a:extLst>
          </p:cNvPr>
          <p:cNvSpPr/>
          <p:nvPr/>
        </p:nvSpPr>
        <p:spPr>
          <a:xfrm>
            <a:off x="702540" y="6364199"/>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DC8D0B6-F29C-AB01-9542-9CE1759F0C30}"/>
              </a:ext>
            </a:extLst>
          </p:cNvPr>
          <p:cNvSpPr txBox="1"/>
          <p:nvPr/>
        </p:nvSpPr>
        <p:spPr>
          <a:xfrm>
            <a:off x="8356301" y="4018953"/>
            <a:ext cx="6232358" cy="2318583"/>
          </a:xfrm>
          <a:prstGeom prst="rect">
            <a:avLst/>
          </a:prstGeom>
          <a:noFill/>
        </p:spPr>
        <p:txBody>
          <a:bodyPr wrap="square">
            <a:spAutoFit/>
          </a:bodyPr>
          <a:lstStyle/>
          <a:p>
            <a:pPr marL="0" marR="0" lvl="0" indent="0" algn="l" rtl="0">
              <a:spcBef>
                <a:spcPts val="0"/>
              </a:spcBef>
              <a:spcAft>
                <a:spcPts val="0"/>
              </a:spcAft>
              <a:buNone/>
            </a:pPr>
            <a:r>
              <a:rPr lang="en-US" sz="2000" b="1" dirty="0">
                <a:latin typeface="Times New Roman"/>
                <a:ea typeface="Times New Roman"/>
                <a:cs typeface="Times New Roman"/>
                <a:sym typeface="Times New Roman"/>
              </a:rPr>
              <a:t>Mentor: </a:t>
            </a:r>
            <a:endParaRPr lang="en-US" sz="2000" dirty="0"/>
          </a:p>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     Ms. K KARTHIKA,</a:t>
            </a:r>
            <a:endParaRPr lang="en-US" sz="2000" dirty="0"/>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     Assistant Professor,</a:t>
            </a:r>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     Department of CT-PG</a:t>
            </a:r>
            <a:r>
              <a:rPr lang="en-US" sz="2000" b="1" dirty="0">
                <a:solidFill>
                  <a:schemeClr val="dk1"/>
                </a:solidFill>
                <a:latin typeface="Times New Roman"/>
                <a:ea typeface="Times New Roman"/>
                <a:cs typeface="Times New Roman"/>
                <a:sym typeface="Times New Roman"/>
              </a:rPr>
              <a:t>,</a:t>
            </a:r>
            <a:endParaRPr lang="en-IN" sz="2000" b="0" strike="noStrike" spc="-1" dirty="0">
              <a:latin typeface="Arial"/>
            </a:endParaRPr>
          </a:p>
          <a:p>
            <a:pPr marL="272880" indent="-271800">
              <a:lnSpc>
                <a:spcPct val="100000"/>
              </a:lnSpc>
              <a:spcBef>
                <a:spcPts val="400"/>
              </a:spcBef>
              <a:tabLst>
                <a:tab pos="0" algn="l"/>
              </a:tabLst>
            </a:pPr>
            <a:r>
              <a:rPr lang="en-US" sz="2000" spc="-1" dirty="0">
                <a:solidFill>
                  <a:srgbClr val="000000"/>
                </a:solidFill>
                <a:latin typeface="Times New Roman"/>
                <a:ea typeface="黑体"/>
              </a:rPr>
              <a:t>     </a:t>
            </a:r>
            <a:r>
              <a:rPr lang="en-US" sz="2000" b="0" strike="noStrike" spc="-1" dirty="0">
                <a:solidFill>
                  <a:srgbClr val="000000"/>
                </a:solidFill>
                <a:latin typeface="Times New Roman"/>
                <a:ea typeface="黑体"/>
              </a:rPr>
              <a:t>Kongu Engineering College,</a:t>
            </a:r>
            <a:endParaRPr lang="en-IN" sz="2000" b="0" strike="noStrike" spc="-1" dirty="0">
              <a:latin typeface="Arial"/>
            </a:endParaRPr>
          </a:p>
          <a:p>
            <a:pPr marL="272880" indent="-271800">
              <a:lnSpc>
                <a:spcPct val="100000"/>
              </a:lnSpc>
              <a:spcBef>
                <a:spcPts val="400"/>
              </a:spcBef>
              <a:tabLst>
                <a:tab pos="0" algn="l"/>
              </a:tabLst>
            </a:pPr>
            <a:r>
              <a:rPr lang="en-US" sz="2000" spc="-1" dirty="0">
                <a:solidFill>
                  <a:srgbClr val="000000"/>
                </a:solidFill>
                <a:latin typeface="Times New Roman"/>
                <a:ea typeface="黑体"/>
              </a:rPr>
              <a:t>     </a:t>
            </a:r>
            <a:r>
              <a:rPr lang="en-US" sz="2000" b="0" strike="noStrike" spc="-1" dirty="0">
                <a:solidFill>
                  <a:srgbClr val="000000"/>
                </a:solidFill>
                <a:latin typeface="Times New Roman"/>
                <a:ea typeface="黑体"/>
              </a:rPr>
              <a:t>Perundurai</a:t>
            </a:r>
            <a:r>
              <a:rPr lang="en-US" sz="2000" b="0" strike="noStrike" spc="-1" dirty="0">
                <a:solidFill>
                  <a:srgbClr val="000000"/>
                </a:solidFill>
                <a:latin typeface="Arial"/>
                <a:ea typeface="黑体"/>
              </a:rPr>
              <a:t>.</a:t>
            </a:r>
            <a:endParaRPr lang="en-IN" sz="2000" b="0" strike="noStrike" spc="-1" dirty="0">
              <a:latin typeface="Arial"/>
            </a:endParaRPr>
          </a:p>
          <a:p>
            <a:pPr marL="0" marR="0" lvl="0" indent="0" algn="l" rtl="0">
              <a:spcBef>
                <a:spcPts val="0"/>
              </a:spcBef>
              <a:spcAft>
                <a:spcPts val="0"/>
              </a:spcAft>
              <a:buNone/>
            </a:pPr>
            <a:endParaRPr lang="en-US" sz="18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0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0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449525" y="1064820"/>
            <a:ext cx="9292951" cy="28944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OBJECTIVE:</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pitchFamily="2" charset="2"/>
              <a:buChar char="§"/>
            </a:pPr>
            <a:r>
              <a:rPr lang="en-US" sz="2000" b="0" i="0" dirty="0">
                <a:solidFill>
                  <a:srgbClr val="202124"/>
                </a:solidFill>
                <a:effectLst/>
                <a:latin typeface="Times New Roman" panose="02020603050405020304" pitchFamily="18" charset="0"/>
                <a:cs typeface="Times New Roman" panose="02020603050405020304" pitchFamily="18" charset="0"/>
              </a:rPr>
              <a:t>The objective of forex prediction is to forecast future currency exchange rates by analyzing historical market data, economic indicators, and patterns to make informed trading decisions.</a:t>
            </a:r>
            <a:endParaRPr lang="en-IN" sz="2000" b="1"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8299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5">
            <a:extLst>
              <a:ext uri="{FF2B5EF4-FFF2-40B4-BE49-F238E27FC236}">
                <a16:creationId xmlns:a16="http://schemas.microsoft.com/office/drawing/2014/main" id="{FBCD0948-B56C-298C-BF5A-3A7A033328BF}"/>
              </a:ext>
            </a:extLst>
          </p:cNvPr>
          <p:cNvSpPr/>
          <p:nvPr/>
        </p:nvSpPr>
        <p:spPr>
          <a:xfrm>
            <a:off x="996595" y="941530"/>
            <a:ext cx="10757042" cy="55517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pc="-1" dirty="0">
                <a:solidFill>
                  <a:srgbClr val="0000FF"/>
                </a:solidFill>
                <a:latin typeface="Times New Roman"/>
                <a:ea typeface="SimSun"/>
              </a:rPr>
              <a:t>INTRODUCTION</a:t>
            </a:r>
            <a:r>
              <a:rPr lang="en-US" sz="2000" b="1" strike="noStrike" spc="-1" dirty="0">
                <a:solidFill>
                  <a:srgbClr val="0000FF"/>
                </a:solidFill>
                <a:latin typeface="Times New Roman"/>
                <a:ea typeface="SimSun"/>
              </a:rPr>
              <a:t>:</a:t>
            </a:r>
            <a:endParaRPr lang="en-IN" sz="2000" b="1" spc="-1" dirty="0">
              <a:latin typeface="Times New Roman" panose="02020603050405020304" pitchFamily="18" charset="0"/>
              <a:cs typeface="Times New Roman" panose="02020603050405020304" pitchFamily="18" charset="0"/>
            </a:endParaRPr>
          </a:p>
          <a:p>
            <a:pPr lvl="1" algn="just">
              <a:lnSpc>
                <a:spcPct val="150000"/>
              </a:lnSpc>
            </a:pPr>
            <a:endParaRPr lang="en-IN" sz="2000" b="1" spc="-1"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Forex prediction involves forecasting future currency exchange rates to aid in trading decisions.</a:t>
            </a:r>
            <a:r>
              <a:rPr lang="en-IN" sz="2000" spc="-1" dirty="0">
                <a:latin typeface="Times New Roman" panose="02020603050405020304" pitchFamily="18" charset="0"/>
                <a:cs typeface="Times New Roman" panose="02020603050405020304" pitchFamily="18" charset="0"/>
              </a:rPr>
              <a:t>	</a:t>
            </a:r>
          </a:p>
          <a:p>
            <a:pPr marL="800100" lvl="1" indent="-342900" algn="just">
              <a:lnSpc>
                <a:spcPct val="150000"/>
              </a:lnSpc>
              <a:buFont typeface="Wingdings" panose="05000000000000000000" pitchFamily="2" charset="2"/>
              <a:buChar char="§"/>
            </a:pPr>
            <a:endParaRPr lang="en-IN" sz="2000" spc="-1"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The forex market is the largest financial market globally, with high liquidity and daily trading volumes exceeding $6 trillion.</a:t>
            </a:r>
          </a:p>
          <a:p>
            <a:pPr lvl="1" algn="just">
              <a:lnSpc>
                <a:spcPct val="150000"/>
              </a:lnSpc>
            </a:pPr>
            <a:endParaRPr lang="en-US" sz="2000" spc="-1" dirty="0">
              <a:latin typeface="Times New Roman" panose="02020603050405020304" pitchFamily="18" charset="0"/>
              <a:cs typeface="Times New Roman" panose="02020603050405020304" pitchFamily="18" charset="0"/>
            </a:endParaRPr>
          </a:p>
          <a:p>
            <a:pPr lvl="1" algn="just">
              <a:lnSpc>
                <a:spcPct val="150000"/>
              </a:lnSpc>
            </a:pPr>
            <a:endParaRPr lang="en-US" sz="2000" b="1" spc="-1" dirty="0">
              <a:latin typeface="Times New Roman" panose="02020603050405020304" pitchFamily="18" charset="0"/>
              <a:cs typeface="Times New Roman" panose="02020603050405020304" pitchFamily="18" charset="0"/>
            </a:endParaRPr>
          </a:p>
          <a:p>
            <a:pPr marL="800100" lvl="1" indent="-342900" algn="just">
              <a:lnSpc>
                <a:spcPct val="150000"/>
              </a:lnSpc>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Various techniques, including technical analysis, fundamental analysis, and machine learning, are employed to predict currency trends accurately.</a:t>
            </a:r>
            <a:r>
              <a:rPr lang="en-IN" sz="2000" b="1" spc="-1" dirty="0">
                <a:latin typeface="Times New Roman" panose="02020603050405020304" pitchFamily="18" charset="0"/>
                <a:cs typeface="Times New Roman" panose="02020603050405020304" pitchFamily="18" charset="0"/>
              </a:rPr>
              <a:t>		</a:t>
            </a:r>
          </a:p>
        </p:txBody>
      </p:sp>
      <p:sp>
        <p:nvSpPr>
          <p:cNvPr id="2" name="CustomShape 2">
            <a:extLst>
              <a:ext uri="{FF2B5EF4-FFF2-40B4-BE49-F238E27FC236}">
                <a16:creationId xmlns:a16="http://schemas.microsoft.com/office/drawing/2014/main" id="{9AD74D8E-EA41-5287-6FC9-6FE8C6C91CBD}"/>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0049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217010" y="653249"/>
            <a:ext cx="9292951"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graphicFrame>
        <p:nvGraphicFramePr>
          <p:cNvPr id="3" name="Table 4">
            <a:extLst>
              <a:ext uri="{FF2B5EF4-FFF2-40B4-BE49-F238E27FC236}">
                <a16:creationId xmlns:a16="http://schemas.microsoft.com/office/drawing/2014/main" id="{ADFA8DF9-CCC3-1E58-48CF-1A964E85B921}"/>
              </a:ext>
            </a:extLst>
          </p:cNvPr>
          <p:cNvGraphicFramePr>
            <a:graphicFrameLocks noGrp="1"/>
          </p:cNvGraphicFramePr>
          <p:nvPr>
            <p:extLst>
              <p:ext uri="{D42A27DB-BD31-4B8C-83A1-F6EECF244321}">
                <p14:modId xmlns:p14="http://schemas.microsoft.com/office/powerpoint/2010/main" val="1238162789"/>
              </p:ext>
            </p:extLst>
          </p:nvPr>
        </p:nvGraphicFramePr>
        <p:xfrm>
          <a:off x="1288929" y="1202076"/>
          <a:ext cx="10676381" cy="5826369"/>
        </p:xfrm>
        <a:graphic>
          <a:graphicData uri="http://schemas.openxmlformats.org/drawingml/2006/table">
            <a:tbl>
              <a:tblPr firstRow="1" bandRow="1">
                <a:tableStyleId>{F2DE63D5-997A-4646-A377-4702673A728D}</a:tableStyleId>
              </a:tblPr>
              <a:tblGrid>
                <a:gridCol w="640666">
                  <a:extLst>
                    <a:ext uri="{9D8B030D-6E8A-4147-A177-3AD203B41FA5}">
                      <a16:colId xmlns:a16="http://schemas.microsoft.com/office/drawing/2014/main" val="1941337491"/>
                    </a:ext>
                  </a:extLst>
                </a:gridCol>
                <a:gridCol w="2524864">
                  <a:extLst>
                    <a:ext uri="{9D8B030D-6E8A-4147-A177-3AD203B41FA5}">
                      <a16:colId xmlns:a16="http://schemas.microsoft.com/office/drawing/2014/main" val="2781086607"/>
                    </a:ext>
                  </a:extLst>
                </a:gridCol>
                <a:gridCol w="1305338">
                  <a:extLst>
                    <a:ext uri="{9D8B030D-6E8A-4147-A177-3AD203B41FA5}">
                      <a16:colId xmlns:a16="http://schemas.microsoft.com/office/drawing/2014/main" val="3223654707"/>
                    </a:ext>
                  </a:extLst>
                </a:gridCol>
                <a:gridCol w="1896829">
                  <a:extLst>
                    <a:ext uri="{9D8B030D-6E8A-4147-A177-3AD203B41FA5}">
                      <a16:colId xmlns:a16="http://schemas.microsoft.com/office/drawing/2014/main" val="573836814"/>
                    </a:ext>
                  </a:extLst>
                </a:gridCol>
                <a:gridCol w="1671491">
                  <a:extLst>
                    <a:ext uri="{9D8B030D-6E8A-4147-A177-3AD203B41FA5}">
                      <a16:colId xmlns:a16="http://schemas.microsoft.com/office/drawing/2014/main" val="996545986"/>
                    </a:ext>
                  </a:extLst>
                </a:gridCol>
                <a:gridCol w="2637193">
                  <a:extLst>
                    <a:ext uri="{9D8B030D-6E8A-4147-A177-3AD203B41FA5}">
                      <a16:colId xmlns:a16="http://schemas.microsoft.com/office/drawing/2014/main" val="3598405834"/>
                    </a:ext>
                  </a:extLst>
                </a:gridCol>
              </a:tblGrid>
              <a:tr h="535007">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Sl. No</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Title of the Paper</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Year of Publication</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Author</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Algorithm</a:t>
                      </a: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1957678201"/>
                  </a:ext>
                </a:extLst>
              </a:tr>
              <a:tr h="1661337">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1</a:t>
                      </a:r>
                    </a:p>
                  </a:txBody>
                  <a:tcPr/>
                </a:tc>
                <a:tc>
                  <a:txBody>
                    <a:bodyPr/>
                    <a:lstStyle/>
                    <a:p>
                      <a:pPr algn="l">
                        <a:lnSpc>
                          <a:spcPct val="100000"/>
                        </a:lnSpc>
                      </a:pPr>
                      <a:r>
                        <a:rPr lang="en-IN" sz="1400" b="0" dirty="0" err="1"/>
                        <a:t>Fx</a:t>
                      </a:r>
                      <a:r>
                        <a:rPr lang="en-IN" sz="1400" b="0" dirty="0"/>
                        <a:t>-spot predictions with state-of-the-art transformer and time embeddings</a:t>
                      </a:r>
                      <a:endParaRPr lang="en-IN" sz="1400" b="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2024</a:t>
                      </a:r>
                    </a:p>
                  </a:txBody>
                  <a:tcPr/>
                </a:tc>
                <a:tc>
                  <a:txBody>
                    <a:bodyPr/>
                    <a:lstStyle/>
                    <a:p>
                      <a:pPr algn="l">
                        <a:lnSpc>
                          <a:spcPct val="100000"/>
                        </a:lnSpc>
                      </a:pPr>
                      <a:r>
                        <a:rPr lang="en-US" sz="1400" b="0" dirty="0"/>
                        <a:t>Tizian Fischer, Marius Sterling, Stefan Lessmann</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US" sz="1400" b="0" dirty="0"/>
                        <a:t>LSTM,GRU </a:t>
                      </a:r>
                      <a:r>
                        <a:rPr lang="en-US" sz="1400" b="0" dirty="0" err="1"/>
                        <a:t>RNNs,SVM</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In paper [1], Tizian Fischer et al. (2024) describe two models: a transformer with time embeddings and benchmark models for FX trading. The transformer model exhibited superior performance in FX-Spot forecasting, outperforming traditional neural networks such as LSTM for multivariate, cross-sectional input data.</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8921198"/>
                  </a:ext>
                </a:extLst>
              </a:tr>
              <a:tr h="2639602">
                <a:tc>
                  <a:txBody>
                    <a:bodyPr/>
                    <a:lstStyle/>
                    <a:p>
                      <a:pPr algn="l">
                        <a:lnSpc>
                          <a:spcPct val="100000"/>
                        </a:lnSpc>
                      </a:pPr>
                      <a:r>
                        <a:rPr lang="en-US" sz="1400" b="0" dirty="0">
                          <a:latin typeface="Times New Roman" panose="02020603050405020304" pitchFamily="18" charset="0"/>
                          <a:cs typeface="Times New Roman" panose="02020603050405020304" pitchFamily="18" charset="0"/>
                        </a:rPr>
                        <a:t>2</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b="0" dirty="0"/>
                        <a:t>Volatility Forecasting and Assessing Risk of Financial Markets Using Multi-Transformer Neural Network-Based Architecture</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b="0" dirty="0">
                          <a:latin typeface="Times New Roman" panose="02020603050405020304" pitchFamily="18" charset="0"/>
                          <a:cs typeface="Times New Roman" panose="02020603050405020304" pitchFamily="18" charset="0"/>
                        </a:rPr>
                        <a:t>2024</a:t>
                      </a:r>
                    </a:p>
                  </a:txBody>
                  <a:tcPr/>
                </a:tc>
                <a:tc>
                  <a:txBody>
                    <a:bodyPr/>
                    <a:lstStyle/>
                    <a:p>
                      <a:pPr algn="l">
                        <a:lnSpc>
                          <a:spcPct val="100000"/>
                        </a:lnSpc>
                      </a:pPr>
                      <a:r>
                        <a:rPr lang="en-US" sz="1400" b="0" dirty="0"/>
                        <a:t>Aswini Kumar Mishra Jayashree Renganathan Aaryaman Gupta</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US" sz="1400" b="0" dirty="0"/>
                        <a:t>GARCH, LSTM</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IN" sz="1400" b="0" dirty="0"/>
                        <a:t>This study introduces a hybrid deep learning model integrating Transformer, Multi-Transformer layers, GARCH, and LSTM models for volatility forecasting in financial markets. It evaluates the performance of these models against traditional GARCH-type models using data from major financial assets from 2005 to 2021. </a:t>
                      </a:r>
                      <a:endParaRPr lang="en-IN" sz="14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8394813"/>
                  </a:ext>
                </a:extLst>
              </a:tr>
            </a:tbl>
          </a:graphicData>
        </a:graphic>
      </p:graphicFrame>
    </p:spTree>
    <p:extLst>
      <p:ext uri="{BB962C8B-B14F-4D97-AF65-F5344CB8AC3E}">
        <p14:creationId xmlns:p14="http://schemas.microsoft.com/office/powerpoint/2010/main" val="1509071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019973" y="772180"/>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graphicFrame>
        <p:nvGraphicFramePr>
          <p:cNvPr id="3" name="Table 4">
            <a:extLst>
              <a:ext uri="{FF2B5EF4-FFF2-40B4-BE49-F238E27FC236}">
                <a16:creationId xmlns:a16="http://schemas.microsoft.com/office/drawing/2014/main" id="{ADFA8DF9-CCC3-1E58-48CF-1A964E85B921}"/>
              </a:ext>
            </a:extLst>
          </p:cNvPr>
          <p:cNvGraphicFramePr>
            <a:graphicFrameLocks noGrp="1"/>
          </p:cNvGraphicFramePr>
          <p:nvPr>
            <p:extLst>
              <p:ext uri="{D42A27DB-BD31-4B8C-83A1-F6EECF244321}">
                <p14:modId xmlns:p14="http://schemas.microsoft.com/office/powerpoint/2010/main" val="3618740065"/>
              </p:ext>
            </p:extLst>
          </p:nvPr>
        </p:nvGraphicFramePr>
        <p:xfrm>
          <a:off x="1164046" y="1397284"/>
          <a:ext cx="10655777" cy="5312040"/>
        </p:xfrm>
        <a:graphic>
          <a:graphicData uri="http://schemas.openxmlformats.org/drawingml/2006/table">
            <a:tbl>
              <a:tblPr firstRow="1" bandRow="1">
                <a:tableStyleId>{F2DE63D5-997A-4646-A377-4702673A728D}</a:tableStyleId>
              </a:tblPr>
              <a:tblGrid>
                <a:gridCol w="479730">
                  <a:extLst>
                    <a:ext uri="{9D8B030D-6E8A-4147-A177-3AD203B41FA5}">
                      <a16:colId xmlns:a16="http://schemas.microsoft.com/office/drawing/2014/main" val="1941337491"/>
                    </a:ext>
                  </a:extLst>
                </a:gridCol>
                <a:gridCol w="2263185">
                  <a:extLst>
                    <a:ext uri="{9D8B030D-6E8A-4147-A177-3AD203B41FA5}">
                      <a16:colId xmlns:a16="http://schemas.microsoft.com/office/drawing/2014/main" val="2781086607"/>
                    </a:ext>
                  </a:extLst>
                </a:gridCol>
                <a:gridCol w="1285826">
                  <a:extLst>
                    <a:ext uri="{9D8B030D-6E8A-4147-A177-3AD203B41FA5}">
                      <a16:colId xmlns:a16="http://schemas.microsoft.com/office/drawing/2014/main" val="3223654707"/>
                    </a:ext>
                  </a:extLst>
                </a:gridCol>
                <a:gridCol w="1668514">
                  <a:extLst>
                    <a:ext uri="{9D8B030D-6E8A-4147-A177-3AD203B41FA5}">
                      <a16:colId xmlns:a16="http://schemas.microsoft.com/office/drawing/2014/main" val="573836814"/>
                    </a:ext>
                  </a:extLst>
                </a:gridCol>
                <a:gridCol w="2051199">
                  <a:extLst>
                    <a:ext uri="{9D8B030D-6E8A-4147-A177-3AD203B41FA5}">
                      <a16:colId xmlns:a16="http://schemas.microsoft.com/office/drawing/2014/main" val="996545986"/>
                    </a:ext>
                  </a:extLst>
                </a:gridCol>
                <a:gridCol w="2907323">
                  <a:extLst>
                    <a:ext uri="{9D8B030D-6E8A-4147-A177-3AD203B41FA5}">
                      <a16:colId xmlns:a16="http://schemas.microsoft.com/office/drawing/2014/main" val="3598405834"/>
                    </a:ext>
                  </a:extLst>
                </a:gridCol>
              </a:tblGrid>
              <a:tr h="556930">
                <a:tc>
                  <a:txBody>
                    <a:bodyPr/>
                    <a:lstStyle/>
                    <a:p>
                      <a:r>
                        <a:rPr lang="en-IN" sz="1600" dirty="0">
                          <a:latin typeface="Times New Roman" panose="02020603050405020304" pitchFamily="18" charset="0"/>
                          <a:cs typeface="Times New Roman" panose="02020603050405020304" pitchFamily="18" charset="0"/>
                        </a:rPr>
                        <a:t>Sl. No</a:t>
                      </a:r>
                    </a:p>
                  </a:txBody>
                  <a:tcP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r>
                        <a:rPr lang="en-IN" sz="1600" dirty="0">
                          <a:latin typeface="Times New Roman" panose="02020603050405020304" pitchFamily="18" charset="0"/>
                          <a:cs typeface="Times New Roman" panose="02020603050405020304" pitchFamily="18" charset="0"/>
                        </a:rPr>
                        <a:t>Algorithm</a:t>
                      </a:r>
                    </a:p>
                  </a:txBody>
                  <a:tcPr/>
                </a:tc>
                <a:tc>
                  <a:txBody>
                    <a:bodyPr/>
                    <a:lstStyle/>
                    <a:p>
                      <a:r>
                        <a:rPr lang="en-IN" sz="160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1957678201"/>
                  </a:ext>
                </a:extLst>
              </a:tr>
              <a:tr h="2081160">
                <a:tc>
                  <a:txBody>
                    <a:bodyPr/>
                    <a:lstStyle/>
                    <a:p>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pPr>
                      <a:r>
                        <a:rPr lang="en-IN" sz="1400" dirty="0"/>
                        <a:t>Leveraging Time Series Categorization and Temporal Fusion Transformers to Improve Cryptocurrency Price Forecasting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t>Arash Peik Mohammad Ali Zare </a:t>
                      </a:r>
                      <a:r>
                        <a:rPr lang="en-US" sz="1400" dirty="0" err="1"/>
                        <a:t>Chahooki</a:t>
                      </a:r>
                      <a:r>
                        <a:rPr lang="en-US" sz="1400" dirty="0"/>
                        <a:t> Amin Milani Fard Mehdi Agha </a:t>
                      </a:r>
                      <a:r>
                        <a:rPr lang="en-US" sz="1400" dirty="0" err="1"/>
                        <a:t>Sarram</a:t>
                      </a:r>
                      <a:endParaRPr lang="en-IN" sz="1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400" kern="1200" dirty="0">
                          <a:solidFill>
                            <a:schemeClr val="tx1"/>
                          </a:solidFill>
                          <a:effectLst/>
                          <a:latin typeface="Times New Roman" panose="02020603050405020304" pitchFamily="18" charset="0"/>
                          <a:ea typeface="+mn-ea"/>
                          <a:cs typeface="Times New Roman" panose="02020603050405020304" pitchFamily="18" charset="0"/>
                        </a:rPr>
                        <a:t>TFT</a:t>
                      </a:r>
                      <a:endParaRPr lang="en-IN" sz="1400"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pPr>
                      <a:r>
                        <a:rPr lang="en-IN" sz="1400" b="0" dirty="0"/>
                        <a:t>This study proposes a novel approach for cryptocurrency price forecasting by categorizing financial time series into subseries with similar </a:t>
                      </a:r>
                      <a:r>
                        <a:rPr lang="en-IN" sz="1400" b="0" dirty="0" err="1"/>
                        <a:t>behavior</a:t>
                      </a:r>
                      <a:r>
                        <a:rPr lang="en-IN" sz="1400" b="0" dirty="0"/>
                        <a:t>. The research introduces a deep learning model using the attention mechanism to predict future prices within each subseries category. </a:t>
                      </a:r>
                      <a:endParaRPr lang="en-IN" sz="14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1731086"/>
                  </a:ext>
                </a:extLst>
              </a:tr>
              <a:tr h="2550153">
                <a:tc>
                  <a:txBody>
                    <a:bodyPr/>
                    <a:lstStyle/>
                    <a:p>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Forecasting Foreign Exchange Market Prices Using Technical Indicators with Deep Learning and Attention Mechanism</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err="1"/>
                        <a:t>Sahabeh</a:t>
                      </a:r>
                      <a:r>
                        <a:rPr lang="en-US" sz="1400" dirty="0"/>
                        <a:t> Saadati (Islamic Azad University, North Tehran Branch) Mohammad </a:t>
                      </a:r>
                      <a:r>
                        <a:rPr lang="en-US" sz="1400" dirty="0" err="1"/>
                        <a:t>Manthouri</a:t>
                      </a:r>
                      <a:r>
                        <a:rPr lang="en-US" sz="1400" dirty="0"/>
                        <a:t> (Shahed University)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kern="1200" dirty="0">
                          <a:solidFill>
                            <a:schemeClr val="tx1"/>
                          </a:solidFill>
                          <a:effectLst/>
                          <a:latin typeface="Times New Roman" panose="02020603050405020304" pitchFamily="18" charset="0"/>
                          <a:ea typeface="+mn-ea"/>
                          <a:cs typeface="Times New Roman" panose="02020603050405020304" pitchFamily="18" charset="0"/>
                        </a:rPr>
                        <a:t>LSTM, CNN</a:t>
                      </a:r>
                    </a:p>
                  </a:txBody>
                  <a:tcPr/>
                </a:tc>
                <a:tc>
                  <a:txBody>
                    <a:bodyPr/>
                    <a:lstStyle/>
                    <a:p>
                      <a:r>
                        <a:rPr lang="en-IN" sz="1400" b="0" dirty="0"/>
                        <a:t>This study introduces a deep learning-based model for foreign exchange (Forex) price forecasting by integrating technical indicators with neural networks and attention mechanisms. The model consists of LSTM and CNN networks working in parallel—LSTM captures long-term dependencies, while CNN extracts local patterns in the data</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8921198"/>
                  </a:ext>
                </a:extLst>
              </a:tr>
            </a:tbl>
          </a:graphicData>
        </a:graphic>
      </p:graphicFrame>
    </p:spTree>
    <p:extLst>
      <p:ext uri="{BB962C8B-B14F-4D97-AF65-F5344CB8AC3E}">
        <p14:creationId xmlns:p14="http://schemas.microsoft.com/office/powerpoint/2010/main" val="1740085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89D3933-3464-D997-E803-90ACCEBDC01E}"/>
              </a:ext>
            </a:extLst>
          </p:cNvPr>
          <p:cNvGraphicFramePr>
            <a:graphicFrameLocks noGrp="1"/>
          </p:cNvGraphicFramePr>
          <p:nvPr>
            <p:extLst>
              <p:ext uri="{D42A27DB-BD31-4B8C-83A1-F6EECF244321}">
                <p14:modId xmlns:p14="http://schemas.microsoft.com/office/powerpoint/2010/main" val="503729701"/>
              </p:ext>
            </p:extLst>
          </p:nvPr>
        </p:nvGraphicFramePr>
        <p:xfrm>
          <a:off x="1081239" y="1335640"/>
          <a:ext cx="10882964" cy="5030951"/>
        </p:xfrm>
        <a:graphic>
          <a:graphicData uri="http://schemas.openxmlformats.org/drawingml/2006/table">
            <a:tbl>
              <a:tblPr firstRow="1" bandRow="1">
                <a:tableStyleId>{F2DE63D5-997A-4646-A377-4702673A728D}</a:tableStyleId>
              </a:tblPr>
              <a:tblGrid>
                <a:gridCol w="736723">
                  <a:extLst>
                    <a:ext uri="{9D8B030D-6E8A-4147-A177-3AD203B41FA5}">
                      <a16:colId xmlns:a16="http://schemas.microsoft.com/office/drawing/2014/main" val="205269342"/>
                    </a:ext>
                  </a:extLst>
                </a:gridCol>
                <a:gridCol w="2235412">
                  <a:extLst>
                    <a:ext uri="{9D8B030D-6E8A-4147-A177-3AD203B41FA5}">
                      <a16:colId xmlns:a16="http://schemas.microsoft.com/office/drawing/2014/main" val="2896827420"/>
                    </a:ext>
                  </a:extLst>
                </a:gridCol>
                <a:gridCol w="1279022">
                  <a:extLst>
                    <a:ext uri="{9D8B030D-6E8A-4147-A177-3AD203B41FA5}">
                      <a16:colId xmlns:a16="http://schemas.microsoft.com/office/drawing/2014/main" val="2580112774"/>
                    </a:ext>
                  </a:extLst>
                </a:gridCol>
                <a:gridCol w="1639063">
                  <a:extLst>
                    <a:ext uri="{9D8B030D-6E8A-4147-A177-3AD203B41FA5}">
                      <a16:colId xmlns:a16="http://schemas.microsoft.com/office/drawing/2014/main" val="2627208480"/>
                    </a:ext>
                  </a:extLst>
                </a:gridCol>
                <a:gridCol w="2026028">
                  <a:extLst>
                    <a:ext uri="{9D8B030D-6E8A-4147-A177-3AD203B41FA5}">
                      <a16:colId xmlns:a16="http://schemas.microsoft.com/office/drawing/2014/main" val="3242079768"/>
                    </a:ext>
                  </a:extLst>
                </a:gridCol>
                <a:gridCol w="2966716">
                  <a:extLst>
                    <a:ext uri="{9D8B030D-6E8A-4147-A177-3AD203B41FA5}">
                      <a16:colId xmlns:a16="http://schemas.microsoft.com/office/drawing/2014/main" val="4265601401"/>
                    </a:ext>
                  </a:extLst>
                </a:gridCol>
              </a:tblGrid>
              <a:tr h="563899">
                <a:tc>
                  <a:txBody>
                    <a:bodyPr/>
                    <a:lstStyle/>
                    <a:p>
                      <a:r>
                        <a:rPr lang="en-IN" sz="1600" dirty="0">
                          <a:latin typeface="Times New Roman" panose="02020603050405020304" pitchFamily="18" charset="0"/>
                          <a:cs typeface="Times New Roman" panose="02020603050405020304" pitchFamily="18" charset="0"/>
                        </a:rPr>
                        <a:t>Sl. No</a:t>
                      </a:r>
                    </a:p>
                  </a:txBody>
                  <a:tcP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r>
                        <a:rPr lang="en-IN" sz="1600" dirty="0">
                          <a:latin typeface="Times New Roman" panose="02020603050405020304" pitchFamily="18" charset="0"/>
                          <a:cs typeface="Times New Roman" panose="02020603050405020304" pitchFamily="18" charset="0"/>
                        </a:rPr>
                        <a:t>Algorithm</a:t>
                      </a:r>
                    </a:p>
                  </a:txBody>
                  <a:tcPr/>
                </a:tc>
                <a:tc>
                  <a:txBody>
                    <a:bodyPr/>
                    <a:lstStyle/>
                    <a:p>
                      <a:r>
                        <a:rPr lang="en-IN" sz="160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2355803157"/>
                  </a:ext>
                </a:extLst>
              </a:tr>
              <a:tr h="2463346">
                <a:tc>
                  <a:txBody>
                    <a:bodyPr/>
                    <a:lstStyle/>
                    <a:p>
                      <a:r>
                        <a:rPr lang="en-US" sz="1400" b="0" dirty="0">
                          <a:latin typeface="Times New Roman" panose="02020603050405020304" pitchFamily="18" charset="0"/>
                          <a:cs typeface="Times New Roman" panose="02020603050405020304" pitchFamily="18" charset="0"/>
                        </a:rPr>
                        <a:t>5</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t>Predicting Forex Pair Movements: Integrating Sentiment Analysis, Technical, and Fundamental Indicators using Machine Learning and Deep Learning Models</a:t>
                      </a:r>
                      <a:endPar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Yash Dave </a:t>
                      </a:r>
                      <a:endParaRPr lang="en-IN" sz="1400" b="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r>
                        <a:rPr lang="en-US" sz="14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XGBoost</a:t>
                      </a:r>
                      <a:r>
                        <a:rPr lang="en-US" sz="1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LSTM</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IN" sz="1400" b="0" dirty="0"/>
                        <a:t>The study reinforces the value of multi-source data integration, highlighting its potential for traders, analysts, and policymakers in forex forecasting. </a:t>
                      </a:r>
                      <a:r>
                        <a:rPr lang="en-IN" sz="1400" b="0" dirty="0" err="1"/>
                        <a:t>XGBoost</a:t>
                      </a:r>
                      <a:r>
                        <a:rPr lang="en-IN" sz="1400" b="0" dirty="0"/>
                        <a:t> performed best in capturing forex price movements when combined with technical, fundamental, and sentiment data, achieving the lowest Root Mean Square Error (RMSE).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0059473"/>
                  </a:ext>
                </a:extLst>
              </a:tr>
              <a:tr h="1988485">
                <a:tc>
                  <a:txBody>
                    <a:bodyPr/>
                    <a:lstStyle/>
                    <a:p>
                      <a:r>
                        <a:rPr lang="en-US" sz="1400" b="0" dirty="0">
                          <a:latin typeface="Times New Roman" panose="02020603050405020304" pitchFamily="18" charset="0"/>
                          <a:cs typeface="Times New Roman" panose="02020603050405020304" pitchFamily="18" charset="0"/>
                        </a:rPr>
                        <a:t>6</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t>A Hybrid Stock Prediction Method Based on Periodic/Non-Periodic Features Analyses</a:t>
                      </a:r>
                      <a:r>
                        <a:rPr lang="en-US" sz="1400" b="0" dirty="0">
                          <a:latin typeface="Times New Roman" panose="02020603050405020304" pitchFamily="18" charset="0"/>
                          <a:cs typeface="Times New Roman" panose="02020603050405020304" pitchFamily="18" charset="0"/>
                        </a:rPr>
                        <a:t>.</a:t>
                      </a: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r>
                        <a:rPr lang="en-US" sz="1400" b="0" dirty="0"/>
                        <a:t>Cheng Zhao Junyi Cai</a:t>
                      </a:r>
                    </a:p>
                    <a:p>
                      <a:r>
                        <a:rPr lang="en-US" sz="1400" b="0" dirty="0"/>
                        <a:t>Shuyi Yang</a:t>
                      </a:r>
                    </a:p>
                  </a:txBody>
                  <a:tcPr/>
                </a:tc>
                <a:tc>
                  <a:txBody>
                    <a:bodyPr/>
                    <a:lstStyle/>
                    <a:p>
                      <a:pPr>
                        <a:lnSpc>
                          <a:spcPct val="107000"/>
                        </a:lnSpc>
                        <a:spcAft>
                          <a:spcPts val="800"/>
                        </a:spcAft>
                      </a:pPr>
                      <a:r>
                        <a:rPr lang="en-IN" sz="1400" b="0" kern="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0" dirty="0"/>
                        <a:t>Time2Vec, ARAMA</a:t>
                      </a:r>
                      <a:r>
                        <a:rPr lang="en-IN" sz="1400" b="0" kern="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IN" sz="1400" b="0" dirty="0"/>
                        <a:t>This paper proposes a hybrid stock prediction model that integrates three advanced techniques—CEEMD, Time2Vec, and Transformer—to improve stock market forecasting by capturing both periodic and non-periodic features in stock price data.</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702850047"/>
                  </a:ext>
                </a:extLst>
              </a:tr>
            </a:tbl>
          </a:graphicData>
        </a:graphic>
      </p:graphicFrame>
      <p:sp>
        <p:nvSpPr>
          <p:cNvPr id="5" name="CustomShape 5">
            <a:extLst>
              <a:ext uri="{FF2B5EF4-FFF2-40B4-BE49-F238E27FC236}">
                <a16:creationId xmlns:a16="http://schemas.microsoft.com/office/drawing/2014/main" id="{718D737F-73C6-146F-1A6C-8DC4B68ACC45}"/>
              </a:ext>
            </a:extLst>
          </p:cNvPr>
          <p:cNvSpPr/>
          <p:nvPr/>
        </p:nvSpPr>
        <p:spPr>
          <a:xfrm>
            <a:off x="1019973" y="753401"/>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6" name="CustomShape 2">
            <a:extLst>
              <a:ext uri="{FF2B5EF4-FFF2-40B4-BE49-F238E27FC236}">
                <a16:creationId xmlns:a16="http://schemas.microsoft.com/office/drawing/2014/main" id="{0F7096F7-657B-76D0-650D-90F674094E9D}"/>
              </a:ext>
            </a:extLst>
          </p:cNvPr>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048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78E1147-0336-C169-F150-B363D2A881EF}"/>
              </a:ext>
            </a:extLst>
          </p:cNvPr>
          <p:cNvGraphicFramePr>
            <a:graphicFrameLocks noGrp="1"/>
          </p:cNvGraphicFramePr>
          <p:nvPr>
            <p:extLst>
              <p:ext uri="{D42A27DB-BD31-4B8C-83A1-F6EECF244321}">
                <p14:modId xmlns:p14="http://schemas.microsoft.com/office/powerpoint/2010/main" val="1899746331"/>
              </p:ext>
            </p:extLst>
          </p:nvPr>
        </p:nvGraphicFramePr>
        <p:xfrm>
          <a:off x="1124897" y="1187349"/>
          <a:ext cx="10851730" cy="4977271"/>
        </p:xfrm>
        <a:graphic>
          <a:graphicData uri="http://schemas.openxmlformats.org/drawingml/2006/table">
            <a:tbl>
              <a:tblPr firstRow="1" bandRow="1">
                <a:tableStyleId>{F2DE63D5-997A-4646-A377-4702673A728D}</a:tableStyleId>
              </a:tblPr>
              <a:tblGrid>
                <a:gridCol w="484178">
                  <a:extLst>
                    <a:ext uri="{9D8B030D-6E8A-4147-A177-3AD203B41FA5}">
                      <a16:colId xmlns:a16="http://schemas.microsoft.com/office/drawing/2014/main" val="205269342"/>
                    </a:ext>
                  </a:extLst>
                </a:gridCol>
                <a:gridCol w="2284171">
                  <a:extLst>
                    <a:ext uri="{9D8B030D-6E8A-4147-A177-3AD203B41FA5}">
                      <a16:colId xmlns:a16="http://schemas.microsoft.com/office/drawing/2014/main" val="2896827420"/>
                    </a:ext>
                  </a:extLst>
                </a:gridCol>
                <a:gridCol w="1297749">
                  <a:extLst>
                    <a:ext uri="{9D8B030D-6E8A-4147-A177-3AD203B41FA5}">
                      <a16:colId xmlns:a16="http://schemas.microsoft.com/office/drawing/2014/main" val="2580112774"/>
                    </a:ext>
                  </a:extLst>
                </a:gridCol>
                <a:gridCol w="1683985">
                  <a:extLst>
                    <a:ext uri="{9D8B030D-6E8A-4147-A177-3AD203B41FA5}">
                      <a16:colId xmlns:a16="http://schemas.microsoft.com/office/drawing/2014/main" val="2627208480"/>
                    </a:ext>
                  </a:extLst>
                </a:gridCol>
                <a:gridCol w="2070220">
                  <a:extLst>
                    <a:ext uri="{9D8B030D-6E8A-4147-A177-3AD203B41FA5}">
                      <a16:colId xmlns:a16="http://schemas.microsoft.com/office/drawing/2014/main" val="3242079768"/>
                    </a:ext>
                  </a:extLst>
                </a:gridCol>
                <a:gridCol w="3031427">
                  <a:extLst>
                    <a:ext uri="{9D8B030D-6E8A-4147-A177-3AD203B41FA5}">
                      <a16:colId xmlns:a16="http://schemas.microsoft.com/office/drawing/2014/main" val="4265601401"/>
                    </a:ext>
                  </a:extLst>
                </a:gridCol>
              </a:tblGrid>
              <a:tr h="538876">
                <a:tc>
                  <a:txBody>
                    <a:bodyPr/>
                    <a:lstStyle/>
                    <a:p>
                      <a:r>
                        <a:rPr lang="en-IN" sz="1600" b="0" dirty="0">
                          <a:latin typeface="Times New Roman" panose="02020603050405020304" pitchFamily="18" charset="0"/>
                          <a:cs typeface="Times New Roman" panose="02020603050405020304" pitchFamily="18" charset="0"/>
                        </a:rPr>
                        <a:t>Sl. No</a:t>
                      </a:r>
                    </a:p>
                  </a:txBody>
                  <a:tcPr/>
                </a:tc>
                <a:tc>
                  <a:txBody>
                    <a:bodyPr/>
                    <a:lstStyle/>
                    <a:p>
                      <a:r>
                        <a:rPr lang="en-IN" sz="1600" b="0" dirty="0">
                          <a:latin typeface="Times New Roman" panose="02020603050405020304" pitchFamily="18" charset="0"/>
                          <a:cs typeface="Times New Roman" panose="02020603050405020304" pitchFamily="18" charset="0"/>
                        </a:rPr>
                        <a:t>Title of the Paper</a:t>
                      </a:r>
                    </a:p>
                  </a:txBody>
                  <a:tcPr/>
                </a:tc>
                <a:tc>
                  <a:txBody>
                    <a:bodyPr/>
                    <a:lstStyle/>
                    <a:p>
                      <a:r>
                        <a:rPr lang="en-IN" sz="1600" b="0" dirty="0">
                          <a:latin typeface="Times New Roman" panose="02020603050405020304" pitchFamily="18" charset="0"/>
                          <a:cs typeface="Times New Roman" panose="02020603050405020304" pitchFamily="18" charset="0"/>
                        </a:rPr>
                        <a:t>Year of Publication</a:t>
                      </a:r>
                    </a:p>
                  </a:txBody>
                  <a:tcPr/>
                </a:tc>
                <a:tc>
                  <a:txBody>
                    <a:bodyPr/>
                    <a:lstStyle/>
                    <a:p>
                      <a:r>
                        <a:rPr lang="en-IN" sz="1600" b="0" dirty="0">
                          <a:latin typeface="Times New Roman" panose="02020603050405020304" pitchFamily="18" charset="0"/>
                          <a:cs typeface="Times New Roman" panose="02020603050405020304" pitchFamily="18" charset="0"/>
                        </a:rPr>
                        <a:t>Author</a:t>
                      </a:r>
                    </a:p>
                  </a:txBody>
                  <a:tcPr/>
                </a:tc>
                <a:tc>
                  <a:txBody>
                    <a:bodyPr/>
                    <a:lstStyle/>
                    <a:p>
                      <a:r>
                        <a:rPr lang="en-IN" sz="1600" b="0" dirty="0">
                          <a:latin typeface="Times New Roman" panose="02020603050405020304" pitchFamily="18" charset="0"/>
                          <a:cs typeface="Times New Roman" panose="02020603050405020304" pitchFamily="18" charset="0"/>
                        </a:rPr>
                        <a:t>Algorithm</a:t>
                      </a:r>
                    </a:p>
                  </a:txBody>
                  <a:tcPr/>
                </a:tc>
                <a:tc>
                  <a:txBody>
                    <a:bodyPr/>
                    <a:lstStyle/>
                    <a:p>
                      <a:r>
                        <a:rPr lang="en-IN" sz="1600" b="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2355803157"/>
                  </a:ext>
                </a:extLst>
              </a:tr>
              <a:tr h="2127141">
                <a:tc>
                  <a:txBody>
                    <a:bodyPr/>
                    <a:lstStyle/>
                    <a:p>
                      <a:r>
                        <a:rPr lang="en-US" sz="1400" b="0" dirty="0">
                          <a:latin typeface="Times New Roman" panose="02020603050405020304" pitchFamily="18" charset="0"/>
                          <a:cs typeface="Times New Roman" panose="02020603050405020304" pitchFamily="18" charset="0"/>
                        </a:rPr>
                        <a:t>7</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en-IN" sz="1400" b="0" dirty="0"/>
                        <a:t>Sentiment-Driven Exchange Rate Forecasting: Integrating Twitter Analysis with Economic Indicators</a:t>
                      </a:r>
                      <a:endParaRPr lang="en-US" sz="1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err="1"/>
                        <a:t>Kazım</a:t>
                      </a:r>
                      <a:r>
                        <a:rPr lang="en-US" sz="1400" b="0" dirty="0"/>
                        <a:t> Berk </a:t>
                      </a:r>
                      <a:r>
                        <a:rPr lang="en-US" sz="1400" b="0" dirty="0" err="1"/>
                        <a:t>Küçüklerli</a:t>
                      </a:r>
                      <a:r>
                        <a:rPr lang="en-US" sz="1400" b="0" dirty="0"/>
                        <a:t> Veysel Ulusoy</a:t>
                      </a:r>
                      <a:r>
                        <a:rPr lang="sv-SE" sz="1400" b="0" i="0" u="none" strike="noStrike" kern="1200" baseline="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a:t>
                      </a:r>
                      <a:r>
                        <a:rPr lang="en-IN" sz="1400" b="0" i="0" u="none" strike="noStrike" kern="1200" baseline="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a:t>
                      </a:r>
                      <a:endParaRPr lang="en-IN" sz="1400" b="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r>
                        <a:rPr lang="en-IN" sz="1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LSTM, </a:t>
                      </a:r>
                      <a:r>
                        <a:rPr lang="en-IN" sz="14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XGBoost</a:t>
                      </a:r>
                      <a:r>
                        <a:rPr lang="en-IN" sz="14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RNN</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IN" sz="1400" b="0" dirty="0"/>
                        <a:t>This study explores the use of Twitter sentiment analysis alongside traditional economic indicators to predict the USD/TL exchange rate. By applying machine learning techniques, including LSTM, </a:t>
                      </a:r>
                      <a:r>
                        <a:rPr lang="en-IN" sz="1400" b="0" dirty="0" err="1"/>
                        <a:t>XGBoost</a:t>
                      </a:r>
                      <a:r>
                        <a:rPr lang="en-IN" sz="1400" b="0" dirty="0"/>
                        <a:t>, and RNN, the research assesses how sentiment extracted from Twitter narratives enhances forecasting accuracy.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0059473"/>
                  </a:ext>
                </a:extLst>
              </a:tr>
              <a:tr h="2173111">
                <a:tc>
                  <a:txBody>
                    <a:bodyPr/>
                    <a:lstStyle/>
                    <a:p>
                      <a:r>
                        <a:rPr lang="en-US" sz="1400" b="0" dirty="0">
                          <a:latin typeface="Times New Roman" panose="02020603050405020304" pitchFamily="18" charset="0"/>
                          <a:cs typeface="Times New Roman" panose="02020603050405020304" pitchFamily="18" charset="0"/>
                        </a:rPr>
                        <a:t>8</a:t>
                      </a:r>
                      <a:endParaRPr lang="en-IN" sz="1400" b="0" dirty="0">
                        <a:latin typeface="Times New Roman" panose="02020603050405020304" pitchFamily="18" charset="0"/>
                        <a:cs typeface="Times New Roman" panose="02020603050405020304" pitchFamily="18" charset="0"/>
                      </a:endParaRPr>
                    </a:p>
                  </a:txBody>
                  <a:tcPr/>
                </a:tc>
                <a:tc>
                  <a:txBody>
                    <a:bodyPr/>
                    <a:lstStyle/>
                    <a:p>
                      <a:pPr algn="l"/>
                      <a:r>
                        <a:rPr lang="fr-FR" sz="1400" b="0" dirty="0"/>
                        <a:t>Financial Sentiment </a:t>
                      </a:r>
                      <a:r>
                        <a:rPr lang="fr-FR" sz="1400" b="0" dirty="0" err="1"/>
                        <a:t>Analysis</a:t>
                      </a:r>
                      <a:r>
                        <a:rPr lang="fr-FR" sz="1400" b="0" dirty="0"/>
                        <a:t>: Techniques and Applications</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IN" sz="1400" b="0" dirty="0">
                          <a:latin typeface="Times New Roman" panose="02020603050405020304" pitchFamily="18" charset="0"/>
                          <a:cs typeface="Times New Roman" panose="02020603050405020304" pitchFamily="18" charset="0"/>
                        </a:rPr>
                        <a:t>2024</a:t>
                      </a:r>
                    </a:p>
                  </a:txBody>
                  <a:tcPr/>
                </a:tc>
                <a:tc>
                  <a:txBody>
                    <a:bodyPr/>
                    <a:lstStyle/>
                    <a:p>
                      <a:r>
                        <a:rPr lang="en-US" sz="1400" b="0" dirty="0"/>
                        <a:t>Kelvin Du Frank Xing Rui Mao Erik Cambria</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NLP, RF, SVM</a:t>
                      </a:r>
                    </a:p>
                  </a:txBody>
                  <a:tcPr/>
                </a:tc>
                <a:tc>
                  <a:txBody>
                    <a:bodyPr/>
                    <a:lstStyle/>
                    <a:p>
                      <a:r>
                        <a:rPr lang="en-IN" sz="1400" b="0" dirty="0"/>
                        <a:t>This paper provides a comprehensive review of Financial Sentiment Analysis (FSA), covering both techniques and applications in financial markets. It categorizes FSA research into two main areas:</a:t>
                      </a:r>
                    </a:p>
                    <a:p>
                      <a:r>
                        <a:rPr lang="en-IN" sz="1400" b="0" dirty="0"/>
                        <a:t>Developing techniques for financial sentiment analysis, including improving NLP models and curating datasets. </a:t>
                      </a:r>
                    </a:p>
                  </a:txBody>
                  <a:tcPr marL="68580" marR="68580" marT="0" marB="0"/>
                </a:tc>
                <a:extLst>
                  <a:ext uri="{0D108BD9-81ED-4DB2-BD59-A6C34878D82A}">
                    <a16:rowId xmlns:a16="http://schemas.microsoft.com/office/drawing/2014/main" val="2702850047"/>
                  </a:ext>
                </a:extLst>
              </a:tr>
            </a:tbl>
          </a:graphicData>
        </a:graphic>
      </p:graphicFrame>
      <p:sp>
        <p:nvSpPr>
          <p:cNvPr id="5" name="CustomShape 5">
            <a:extLst>
              <a:ext uri="{FF2B5EF4-FFF2-40B4-BE49-F238E27FC236}">
                <a16:creationId xmlns:a16="http://schemas.microsoft.com/office/drawing/2014/main" id="{16181A66-5CF1-5A25-F649-63B1EDE61CD5}"/>
              </a:ext>
            </a:extLst>
          </p:cNvPr>
          <p:cNvSpPr/>
          <p:nvPr/>
        </p:nvSpPr>
        <p:spPr>
          <a:xfrm>
            <a:off x="1019973" y="741279"/>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6" name="CustomShape 2">
            <a:extLst>
              <a:ext uri="{FF2B5EF4-FFF2-40B4-BE49-F238E27FC236}">
                <a16:creationId xmlns:a16="http://schemas.microsoft.com/office/drawing/2014/main" id="{D906142D-FDEC-AE7F-82E2-7B5241184D48}"/>
              </a:ext>
            </a:extLst>
          </p:cNvPr>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9226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ACD4D23-308D-0F4E-5899-F83AD2F66692}"/>
              </a:ext>
            </a:extLst>
          </p:cNvPr>
          <p:cNvGraphicFramePr>
            <a:graphicFrameLocks noGrp="1"/>
          </p:cNvGraphicFramePr>
          <p:nvPr>
            <p:extLst>
              <p:ext uri="{D42A27DB-BD31-4B8C-83A1-F6EECF244321}">
                <p14:modId xmlns:p14="http://schemas.microsoft.com/office/powerpoint/2010/main" val="3719261029"/>
              </p:ext>
            </p:extLst>
          </p:nvPr>
        </p:nvGraphicFramePr>
        <p:xfrm>
          <a:off x="1091892" y="1077773"/>
          <a:ext cx="10851730" cy="5462025"/>
        </p:xfrm>
        <a:graphic>
          <a:graphicData uri="http://schemas.openxmlformats.org/drawingml/2006/table">
            <a:tbl>
              <a:tblPr firstRow="1" bandRow="1">
                <a:tableStyleId>{F2DE63D5-997A-4646-A377-4702673A728D}</a:tableStyleId>
              </a:tblPr>
              <a:tblGrid>
                <a:gridCol w="484178">
                  <a:extLst>
                    <a:ext uri="{9D8B030D-6E8A-4147-A177-3AD203B41FA5}">
                      <a16:colId xmlns:a16="http://schemas.microsoft.com/office/drawing/2014/main" val="205269342"/>
                    </a:ext>
                  </a:extLst>
                </a:gridCol>
                <a:gridCol w="2284171">
                  <a:extLst>
                    <a:ext uri="{9D8B030D-6E8A-4147-A177-3AD203B41FA5}">
                      <a16:colId xmlns:a16="http://schemas.microsoft.com/office/drawing/2014/main" val="2896827420"/>
                    </a:ext>
                  </a:extLst>
                </a:gridCol>
                <a:gridCol w="1297749">
                  <a:extLst>
                    <a:ext uri="{9D8B030D-6E8A-4147-A177-3AD203B41FA5}">
                      <a16:colId xmlns:a16="http://schemas.microsoft.com/office/drawing/2014/main" val="2580112774"/>
                    </a:ext>
                  </a:extLst>
                </a:gridCol>
                <a:gridCol w="1683985">
                  <a:extLst>
                    <a:ext uri="{9D8B030D-6E8A-4147-A177-3AD203B41FA5}">
                      <a16:colId xmlns:a16="http://schemas.microsoft.com/office/drawing/2014/main" val="2627208480"/>
                    </a:ext>
                  </a:extLst>
                </a:gridCol>
                <a:gridCol w="2070220">
                  <a:extLst>
                    <a:ext uri="{9D8B030D-6E8A-4147-A177-3AD203B41FA5}">
                      <a16:colId xmlns:a16="http://schemas.microsoft.com/office/drawing/2014/main" val="3242079768"/>
                    </a:ext>
                  </a:extLst>
                </a:gridCol>
                <a:gridCol w="3031427">
                  <a:extLst>
                    <a:ext uri="{9D8B030D-6E8A-4147-A177-3AD203B41FA5}">
                      <a16:colId xmlns:a16="http://schemas.microsoft.com/office/drawing/2014/main" val="4265601401"/>
                    </a:ext>
                  </a:extLst>
                </a:gridCol>
              </a:tblGrid>
              <a:tr h="552949">
                <a:tc>
                  <a:txBody>
                    <a:bodyPr/>
                    <a:lstStyle/>
                    <a:p>
                      <a:r>
                        <a:rPr lang="en-IN" sz="1600" dirty="0">
                          <a:latin typeface="Times New Roman" panose="02020603050405020304" pitchFamily="18" charset="0"/>
                          <a:cs typeface="Times New Roman" panose="02020603050405020304" pitchFamily="18" charset="0"/>
                        </a:rPr>
                        <a:t>Sl. No</a:t>
                      </a:r>
                    </a:p>
                  </a:txBody>
                  <a:tcP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Year of Publication</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r>
                        <a:rPr lang="en-IN" sz="1600" dirty="0">
                          <a:latin typeface="Times New Roman" panose="02020603050405020304" pitchFamily="18" charset="0"/>
                          <a:cs typeface="Times New Roman" panose="02020603050405020304" pitchFamily="18" charset="0"/>
                        </a:rPr>
                        <a:t>Algorithm</a:t>
                      </a:r>
                    </a:p>
                  </a:txBody>
                  <a:tcPr/>
                </a:tc>
                <a:tc>
                  <a:txBody>
                    <a:bodyPr/>
                    <a:lstStyle/>
                    <a:p>
                      <a:r>
                        <a:rPr lang="en-IN" sz="1600" dirty="0">
                          <a:latin typeface="Times New Roman" panose="02020603050405020304" pitchFamily="18" charset="0"/>
                          <a:cs typeface="Times New Roman" panose="02020603050405020304" pitchFamily="18" charset="0"/>
                        </a:rPr>
                        <a:t>Overview</a:t>
                      </a:r>
                    </a:p>
                  </a:txBody>
                  <a:tcPr/>
                </a:tc>
                <a:extLst>
                  <a:ext uri="{0D108BD9-81ED-4DB2-BD59-A6C34878D82A}">
                    <a16:rowId xmlns:a16="http://schemas.microsoft.com/office/drawing/2014/main" val="2355803157"/>
                  </a:ext>
                </a:extLst>
              </a:tr>
              <a:tr h="2208890">
                <a:tc>
                  <a:txBody>
                    <a:bodyPr/>
                    <a:lstStyle/>
                    <a:p>
                      <a:r>
                        <a:rPr lang="en-US" sz="1400" dirty="0">
                          <a:latin typeface="Times New Roman" panose="02020603050405020304" pitchFamily="18" charset="0"/>
                          <a:cs typeface="Times New Roman" panose="02020603050405020304" pitchFamily="18" charset="0"/>
                        </a:rPr>
                        <a:t>9</a:t>
                      </a:r>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IN" sz="1400" dirty="0"/>
                        <a:t>Monitoring Time-Varying Systemic Risk in Sovereign Debt and Currency Markets with Generative AI</a:t>
                      </a:r>
                      <a:endParaRPr lang="en-US" sz="14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Helena </a:t>
                      </a:r>
                      <a:r>
                        <a:rPr lang="en-US" sz="1400" dirty="0" err="1"/>
                        <a:t>Chuliá</a:t>
                      </a:r>
                      <a:r>
                        <a:rPr lang="en-US" sz="1400" dirty="0"/>
                        <a:t> Sabuhi Khalili Jorge M. Uribe</a:t>
                      </a:r>
                      <a:endParaRPr lang="en-IN" sz="1400" b="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r>
                        <a:rPr lang="en-US" sz="1400" dirty="0" err="1"/>
                        <a:t>TimeGANs</a:t>
                      </a:r>
                      <a:r>
                        <a:rPr lang="en-US" sz="1400" dirty="0"/>
                        <a:t>,</a:t>
                      </a:r>
                      <a:br>
                        <a:rPr lang="en-US" sz="1400" dirty="0"/>
                      </a:br>
                      <a:r>
                        <a:rPr lang="en-US" sz="1400" dirty="0" err="1"/>
                        <a:t>TimeVAEs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0" dirty="0"/>
                        <a:t>This paper applies generative AI to measure systemic risk in sovereign debt and foreign exchange markets. The study finds that Variational Autoencoders (VAEs) provide the most reliable results in detecting systemic risk. The empirical findings highlight a historically high probability of distress in Credit Default Swaps (CDS) and FX markets by the end of 2022. </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0059473"/>
                  </a:ext>
                </a:extLst>
              </a:tr>
              <a:tr h="2444505">
                <a:tc>
                  <a:txBody>
                    <a:bodyPr/>
                    <a:lstStyle/>
                    <a:p>
                      <a:r>
                        <a:rPr lang="en-US" sz="1400" dirty="0">
                          <a:latin typeface="Times New Roman" panose="02020603050405020304" pitchFamily="18" charset="0"/>
                          <a:cs typeface="Times New Roman" panose="02020603050405020304" pitchFamily="18" charset="0"/>
                        </a:rPr>
                        <a:t>10</a:t>
                      </a:r>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IN" sz="1400" dirty="0"/>
                        <a:t>Four Facts about International Central Bank Communication</a:t>
                      </a:r>
                      <a:endParaRPr lang="en-IN" sz="140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t>Christoph Bertsch Isaiah Hull Robin L. </a:t>
                      </a:r>
                      <a:r>
                        <a:rPr lang="en-US" sz="1400" dirty="0" err="1"/>
                        <a:t>Lumsdaine</a:t>
                      </a:r>
                      <a:r>
                        <a:rPr lang="en-US" sz="1400" dirty="0"/>
                        <a:t> Xin Zhang</a:t>
                      </a:r>
                      <a:r>
                        <a:rPr lang="en-US"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NLP, BERT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0" dirty="0"/>
                        <a:t>This paper introduces a database of text features extracted from 53 central banks' speeches. It establishes four key facts about central bank communication, focusing on differences in communication strategies, spillover effects from the Federal Reserve, FX intervention guidance, and the impact of institutional transparency on political influence.</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02850047"/>
                  </a:ext>
                </a:extLst>
              </a:tr>
            </a:tbl>
          </a:graphicData>
        </a:graphic>
      </p:graphicFrame>
      <p:sp>
        <p:nvSpPr>
          <p:cNvPr id="5" name="CustomShape 5">
            <a:extLst>
              <a:ext uri="{FF2B5EF4-FFF2-40B4-BE49-F238E27FC236}">
                <a16:creationId xmlns:a16="http://schemas.microsoft.com/office/drawing/2014/main" id="{4397F541-1D9F-9C10-41BB-3A8E2E4F7550}"/>
              </a:ext>
            </a:extLst>
          </p:cNvPr>
          <p:cNvSpPr/>
          <p:nvPr/>
        </p:nvSpPr>
        <p:spPr>
          <a:xfrm>
            <a:off x="1019973" y="628952"/>
            <a:ext cx="3804332" cy="36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spcBef>
                <a:spcPts val="400"/>
              </a:spcBef>
              <a:tabLst>
                <a:tab pos="0" algn="l"/>
              </a:tabLst>
            </a:pP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ITERATURE SURVEY:</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algn="l"/>
            <a:r>
              <a:rPr lang="en-IN" sz="2000" spc="-1" dirty="0">
                <a:latin typeface="Times New Roman" panose="02020603050405020304" pitchFamily="18" charset="0"/>
                <a:cs typeface="Times New Roman" panose="02020603050405020304" pitchFamily="18" charset="0"/>
              </a:rPr>
              <a:t>	</a:t>
            </a:r>
            <a:endParaRPr lang="en-IN" sz="2000" b="1"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6" name="CustomShape 2">
            <a:extLst>
              <a:ext uri="{FF2B5EF4-FFF2-40B4-BE49-F238E27FC236}">
                <a16:creationId xmlns:a16="http://schemas.microsoft.com/office/drawing/2014/main" id="{B104A51E-4A99-D8F1-AA43-75E2EE034CA5}"/>
              </a:ext>
            </a:extLst>
          </p:cNvPr>
          <p:cNvSpPr/>
          <p:nvPr/>
        </p:nvSpPr>
        <p:spPr>
          <a:xfrm>
            <a:off x="1019973" y="6387872"/>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312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182076" y="849667"/>
            <a:ext cx="10481007" cy="540769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PROBLEM STATEMENT:</a:t>
            </a:r>
          </a:p>
          <a:p>
            <a:pPr marL="272880" indent="-271800">
              <a:lnSpc>
                <a:spcPct val="100000"/>
              </a:lnSpc>
              <a:spcBef>
                <a:spcPts val="400"/>
              </a:spcBef>
              <a:tabLst>
                <a:tab pos="0" algn="l"/>
              </a:tabLst>
            </a:pPr>
            <a:endParaRPr lang="en-US" sz="2000" spc="-1" dirty="0">
              <a:latin typeface="Times New Roman" panose="02020603050405020304" pitchFamily="18" charset="0"/>
              <a:cs typeface="Times New Roman" panose="02020603050405020304" pitchFamily="18" charset="0"/>
            </a:endParaRPr>
          </a:p>
          <a:p>
            <a:pPr marL="801180" lvl="1" indent="-342900">
              <a:spcBef>
                <a:spcPts val="400"/>
              </a:spcBef>
              <a:buFont typeface="Wingdings" panose="05000000000000000000" pitchFamily="2" charset="2"/>
              <a:buChar char="§"/>
              <a:tabLst>
                <a:tab pos="0" algn="l"/>
              </a:tabLst>
            </a:pPr>
            <a:r>
              <a:rPr lang="en-US" sz="2000" dirty="0">
                <a:latin typeface="Times New Roman" panose="02020603050405020304" pitchFamily="18" charset="0"/>
                <a:cs typeface="Times New Roman" panose="02020603050405020304" pitchFamily="18" charset="0"/>
              </a:rPr>
              <a:t>The foreign exchange market is highly volatile, making it difficult to predict currency exchange rates accurately.</a:t>
            </a:r>
          </a:p>
          <a:p>
            <a:pPr marL="458280" lvl="1">
              <a:spcBef>
                <a:spcPts val="400"/>
              </a:spcBef>
              <a:tabLst>
                <a:tab pos="0" algn="l"/>
              </a:tabLst>
            </a:pPr>
            <a:endParaRPr lang="en-US" sz="2000" spc="-1" dirty="0">
              <a:latin typeface="Times New Roman" panose="02020603050405020304" pitchFamily="18" charset="0"/>
              <a:cs typeface="Times New Roman" panose="02020603050405020304" pitchFamily="18" charset="0"/>
            </a:endParaRPr>
          </a:p>
          <a:p>
            <a:pPr marL="801180" lvl="1" indent="-342900">
              <a:spcBef>
                <a:spcPts val="400"/>
              </a:spcBef>
              <a:buFont typeface="Wingdings" panose="05000000000000000000" pitchFamily="2" charset="2"/>
              <a:buChar char="§"/>
              <a:tabLst>
                <a:tab pos="0" algn="l"/>
              </a:tabLst>
            </a:pPr>
            <a:r>
              <a:rPr lang="en-US" sz="2000" dirty="0">
                <a:latin typeface="Times New Roman" panose="02020603050405020304" pitchFamily="18" charset="0"/>
                <a:cs typeface="Times New Roman" panose="02020603050405020304" pitchFamily="18" charset="0"/>
              </a:rPr>
              <a:t>Traders and investors face challenges in making informed decisions due to the complexity of market behavior influenced by various factors like economic data, geopolitical events, and market sentiment.</a:t>
            </a:r>
            <a:r>
              <a:rPr lang="en-US" sz="2000" dirty="0"/>
              <a:t> </a:t>
            </a:r>
          </a:p>
          <a:p>
            <a:pPr marL="458280" lvl="1">
              <a:spcBef>
                <a:spcPts val="400"/>
              </a:spcBef>
              <a:tabLst>
                <a:tab pos="0" algn="l"/>
              </a:tabLst>
            </a:pPr>
            <a:endParaRPr lang="en-US" sz="2000" dirty="0"/>
          </a:p>
          <a:p>
            <a:pPr marL="801180" lvl="1" indent="-342900">
              <a:spcBef>
                <a:spcPts val="400"/>
              </a:spcBef>
              <a:buFont typeface="Wingdings" panose="05000000000000000000" pitchFamily="2" charset="2"/>
              <a:buChar char="§"/>
              <a:tabLst>
                <a:tab pos="0" algn="l"/>
              </a:tabLst>
            </a:pPr>
            <a:r>
              <a:rPr lang="en-US" sz="2000" b="0" i="0" dirty="0">
                <a:solidFill>
                  <a:srgbClr val="374151"/>
                </a:solidFill>
                <a:effectLst/>
                <a:latin typeface="Times New Roman" panose="02020603050405020304" pitchFamily="18" charset="0"/>
                <a:cs typeface="Times New Roman" panose="02020603050405020304" pitchFamily="18" charset="0"/>
              </a:rPr>
              <a:t>Traditional forecasting methods often fail to capture non-linear relationships in the data, leading to suboptimal predictions. </a:t>
            </a:r>
          </a:p>
          <a:p>
            <a:pPr marL="458280" lvl="1">
              <a:spcBef>
                <a:spcPts val="400"/>
              </a:spcBef>
              <a:tabLst>
                <a:tab pos="0" algn="l"/>
              </a:tabLst>
            </a:pPr>
            <a:endParaRPr lang="en-US" sz="2000" dirty="0">
              <a:solidFill>
                <a:srgbClr val="374151"/>
              </a:solidFill>
              <a:latin typeface="Times New Roman" panose="02020603050405020304" pitchFamily="18" charset="0"/>
              <a:cs typeface="Times New Roman" panose="02020603050405020304" pitchFamily="18" charset="0"/>
            </a:endParaRPr>
          </a:p>
          <a:p>
            <a:pPr marL="801180" lvl="1" indent="-342900">
              <a:spcBef>
                <a:spcPts val="400"/>
              </a:spcBef>
              <a:buFont typeface="Wingdings" panose="05000000000000000000" pitchFamily="2" charset="2"/>
              <a:buChar char="§"/>
              <a:tabLst>
                <a:tab pos="0" algn="l"/>
              </a:tabLst>
            </a:pPr>
            <a:r>
              <a:rPr lang="en-US" sz="2000" dirty="0">
                <a:latin typeface="Times New Roman" panose="02020603050405020304" pitchFamily="18" charset="0"/>
                <a:cs typeface="Times New Roman" panose="02020603050405020304" pitchFamily="18" charset="0"/>
              </a:rPr>
              <a:t>There is a lack of robust and efficient models that can consistently predict forex market trends with high accuracy</a:t>
            </a:r>
            <a:r>
              <a:rPr lang="en-US" sz="2000" dirty="0">
                <a:solidFill>
                  <a:srgbClr val="374151"/>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458280" lvl="1">
              <a:spcBef>
                <a:spcPts val="400"/>
              </a:spcBef>
              <a:tabLst>
                <a:tab pos="0" algn="l"/>
              </a:tabLst>
            </a:pPr>
            <a:endParaRPr lang="en-US" sz="20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551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861C-DA06-6EA0-6090-5B7ABC1DC77A}"/>
              </a:ext>
            </a:extLst>
          </p:cNvPr>
          <p:cNvSpPr>
            <a:spLocks noGrp="1"/>
          </p:cNvSpPr>
          <p:nvPr>
            <p:ph type="title"/>
          </p:nvPr>
        </p:nvSpPr>
        <p:spPr/>
        <p:txBody>
          <a:bodyPr/>
          <a:lstStyle/>
          <a:p>
            <a:r>
              <a:rPr lang="en-IN" dirty="0"/>
              <a:t>      </a:t>
            </a:r>
          </a:p>
        </p:txBody>
      </p:sp>
      <p:sp>
        <p:nvSpPr>
          <p:cNvPr id="4" name="CustomShape 5">
            <a:extLst>
              <a:ext uri="{FF2B5EF4-FFF2-40B4-BE49-F238E27FC236}">
                <a16:creationId xmlns:a16="http://schemas.microsoft.com/office/drawing/2014/main" id="{74942EA4-71E1-DC7D-8EA1-6697528727FE}"/>
              </a:ext>
            </a:extLst>
          </p:cNvPr>
          <p:cNvSpPr/>
          <p:nvPr/>
        </p:nvSpPr>
        <p:spPr>
          <a:xfrm>
            <a:off x="914400" y="1069830"/>
            <a:ext cx="10910047" cy="520243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 PROPOSED SYSTEM:</a:t>
            </a: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spc="-1" dirty="0">
                <a:latin typeface="Times New Roman" panose="02020603050405020304" pitchFamily="18" charset="0"/>
                <a:cs typeface="Times New Roman" panose="02020603050405020304" pitchFamily="18" charset="0"/>
              </a:rPr>
              <a:t>The system leverages deep learning algorithms, specifically Transformers, to capture complex patterns and dependencies in forex market data.</a:t>
            </a:r>
            <a:endParaRPr lang="en-IN" sz="2000" spc="-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endParaRPr lang="en-IN" sz="2000" spc="-1" dirty="0">
              <a:latin typeface="Times New Roman" panose="02020603050405020304" pitchFamily="18" charset="0"/>
              <a:cs typeface="Times New Roman" panose="02020603050405020304" pitchFamily="18" charset="0"/>
            </a:endParaRPr>
          </a:p>
          <a:p>
            <a:pPr lvl="1"/>
            <a:r>
              <a:rPr lang="en-IN" sz="2000" spc="-1" dirty="0">
                <a:latin typeface="Times New Roman" panose="02020603050405020304" pitchFamily="18" charset="0"/>
                <a:cs typeface="Times New Roman" panose="02020603050405020304" pitchFamily="18" charset="0"/>
              </a:rPr>
              <a:t>	</a:t>
            </a:r>
          </a:p>
          <a:p>
            <a:pPr marL="800100" lvl="1" indent="-342900">
              <a:buFont typeface="Wingdings" panose="05000000000000000000" pitchFamily="2" charset="2"/>
              <a:buChar char="§"/>
            </a:pPr>
            <a:r>
              <a:rPr lang="en-US" sz="2000" strike="noStrike" spc="-1" dirty="0">
                <a:latin typeface="Times New Roman" panose="02020603050405020304" pitchFamily="18" charset="0"/>
                <a:cs typeface="Times New Roman" panose="02020603050405020304" pitchFamily="18" charset="0"/>
              </a:rPr>
              <a:t>It integrates both historical price data and external factors, such as economic indicators and news sentiment, to enhance prediction accuracy. </a:t>
            </a:r>
          </a:p>
          <a:p>
            <a:pPr lvl="1"/>
            <a:endParaRPr lang="en-US" sz="2000" strike="noStrike" spc="-1" dirty="0">
              <a:latin typeface="Times New Roman" panose="02020603050405020304" pitchFamily="18" charset="0"/>
              <a:cs typeface="Times New Roman" panose="02020603050405020304" pitchFamily="18" charset="0"/>
            </a:endParaRPr>
          </a:p>
          <a:p>
            <a:pPr lvl="1"/>
            <a:endParaRPr lang="en-IN" sz="2000" strike="noStrike" spc="-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system utilizes real-time data feeds to make timely predictions and adapt to sudden market fluctuations, improving decision-making in forex trading</a:t>
            </a:r>
            <a:r>
              <a:rPr lang="en-US" sz="2000" b="0" i="0" dirty="0">
                <a:effectLst/>
                <a:latin typeface="Times New Roman" panose="02020603050405020304" pitchFamily="18" charset="0"/>
                <a:cs typeface="Times New Roman" panose="02020603050405020304" pitchFamily="18" charset="0"/>
              </a:rPr>
              <a:t>.</a:t>
            </a:r>
          </a:p>
          <a:p>
            <a:pPr lvl="1"/>
            <a:endParaRPr lang="en-IN" sz="2000" spc="-1" dirty="0">
              <a:latin typeface="Times New Roman" panose="02020603050405020304" pitchFamily="18" charset="0"/>
              <a:cs typeface="Times New Roman" panose="02020603050405020304" pitchFamily="18" charset="0"/>
            </a:endParaRPr>
          </a:p>
          <a:p>
            <a:pPr marL="730080" lvl="1" indent="-271800">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
        <p:nvSpPr>
          <p:cNvPr id="5" name="CustomShape 2">
            <a:extLst>
              <a:ext uri="{FF2B5EF4-FFF2-40B4-BE49-F238E27FC236}">
                <a16:creationId xmlns:a16="http://schemas.microsoft.com/office/drawing/2014/main" id="{D871DE9E-AF75-5392-6D1A-EA7F5BB21B6E}"/>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624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D5B4-F407-FC8F-8C79-9B8C1AEBE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F6BC3-CF81-FD79-AD22-83A54CAA63EA}"/>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FB57B4CD-3A13-5163-0638-1180C214D97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389980EC-2CF8-3721-1695-04AA384F521B}"/>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SYSTEM FLOW DIAGRAM</a:t>
            </a:r>
          </a:p>
          <a:p>
            <a:pPr marL="730080" lvl="1" indent="-271800">
              <a:spcBef>
                <a:spcPts val="400"/>
              </a:spcBef>
              <a:tabLst>
                <a:tab pos="0" algn="l"/>
              </a:tabLst>
            </a:pP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1026" name="Picture 2">
            <a:extLst>
              <a:ext uri="{FF2B5EF4-FFF2-40B4-BE49-F238E27FC236}">
                <a16:creationId xmlns:a16="http://schemas.microsoft.com/office/drawing/2014/main" id="{41478DB3-6250-56D1-D5ED-E026AA014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8958" y="1418400"/>
            <a:ext cx="6913483" cy="4966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151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C788-DA04-1695-64D5-9F4E45D8C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18C60-4DC8-69A6-BD4E-B0DB9E6500F4}"/>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E4EDCEE8-8B9E-1CD6-AF55-B59698AC8EBC}"/>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3" name="CustomShape 5">
            <a:extLst>
              <a:ext uri="{FF2B5EF4-FFF2-40B4-BE49-F238E27FC236}">
                <a16:creationId xmlns:a16="http://schemas.microsoft.com/office/drawing/2014/main" id="{76D46B50-7822-976B-C547-33D2DEDB98AE}"/>
              </a:ext>
            </a:extLst>
          </p:cNvPr>
          <p:cNvSpPr/>
          <p:nvPr/>
        </p:nvSpPr>
        <p:spPr>
          <a:xfrm>
            <a:off x="1201518" y="846000"/>
            <a:ext cx="9292951" cy="555917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MODU</a:t>
            </a:r>
            <a:r>
              <a:rPr lang="en-US" sz="2000" b="1" spc="-1" dirty="0">
                <a:solidFill>
                  <a:srgbClr val="0000FF"/>
                </a:solidFill>
                <a:latin typeface="Times New Roman"/>
                <a:ea typeface="SimSun"/>
              </a:rPr>
              <a:t>L</a:t>
            </a:r>
            <a:r>
              <a:rPr lang="en-US" sz="2000" b="1" strike="noStrike" spc="-1" dirty="0">
                <a:solidFill>
                  <a:srgbClr val="0000FF"/>
                </a:solidFill>
                <a:latin typeface="Times New Roman"/>
                <a:ea typeface="SimSun"/>
              </a:rPr>
              <a:t>ES IDENTIFICATION:</a:t>
            </a:r>
            <a:endParaRPr lang="en-IN" sz="2000" b="1" strike="noStrike" spc="-1" dirty="0">
              <a:solidFill>
                <a:srgbClr val="0000FF"/>
              </a:solidFill>
              <a:latin typeface="Times New Roman" panose="02020603050405020304" pitchFamily="18" charset="0"/>
              <a:ea typeface="SimSun"/>
              <a:cs typeface="Times New Roman" panose="02020603050405020304" pitchFamily="18" charset="0"/>
            </a:endParaRPr>
          </a:p>
          <a:p>
            <a:pPr marL="730080" lvl="1" indent="-271800">
              <a:spcBef>
                <a:spcPts val="400"/>
              </a:spcBef>
              <a:tabLst>
                <a:tab pos="0" algn="l"/>
              </a:tabLst>
            </a:pPr>
            <a:endParaRPr lang="en-IN" sz="2000" spc="-1" dirty="0">
              <a:latin typeface="Times New Roman" panose="02020603050405020304" pitchFamily="18" charset="0"/>
              <a:cs typeface="Times New Roman" panose="02020603050405020304" pitchFamily="18" charset="0"/>
            </a:endParaRPr>
          </a:p>
          <a:p>
            <a:pPr marL="1829880" lvl="3" indent="-457200">
              <a:lnSpc>
                <a:spcPct val="150000"/>
              </a:lnSpc>
              <a:spcBef>
                <a:spcPts val="400"/>
              </a:spcBef>
              <a:buFont typeface="+mj-lt"/>
              <a:buAutoNum type="arabicPeriod"/>
              <a:tabLst>
                <a:tab pos="0" algn="l"/>
              </a:tabLst>
            </a:pPr>
            <a:r>
              <a:rPr lang="en-IN" sz="2000" spc="-1" dirty="0">
                <a:latin typeface="Times New Roman" panose="02020603050405020304" pitchFamily="18" charset="0"/>
                <a:cs typeface="Times New Roman" panose="02020603050405020304" pitchFamily="18" charset="0"/>
              </a:rPr>
              <a:t>Pre-processing</a:t>
            </a:r>
            <a:endParaRPr lang="en-IN" sz="1500" spc="-1" dirty="0">
              <a:latin typeface="Times New Roman" panose="02020603050405020304" pitchFamily="18" charset="0"/>
              <a:cs typeface="Times New Roman" panose="02020603050405020304" pitchFamily="18" charset="0"/>
            </a:endParaRPr>
          </a:p>
          <a:p>
            <a:pPr marL="2287080" lvl="4" indent="-457200">
              <a:lnSpc>
                <a:spcPct val="150000"/>
              </a:lnSpc>
              <a:spcBef>
                <a:spcPts val="400"/>
              </a:spcBef>
              <a:buFont typeface="+mj-lt"/>
              <a:buAutoNum type="arabicPeriod"/>
              <a:tabLst>
                <a:tab pos="0" algn="l"/>
              </a:tabLst>
            </a:pPr>
            <a:r>
              <a:rPr lang="en-IN" sz="1600" spc="-1" dirty="0">
                <a:latin typeface="Times New Roman" panose="02020603050405020304" pitchFamily="18" charset="0"/>
                <a:cs typeface="Times New Roman" panose="02020603050405020304" pitchFamily="18" charset="0"/>
              </a:rPr>
              <a:t>DATA CLEANING(FORWARD FILL)</a:t>
            </a:r>
          </a:p>
          <a:p>
            <a:pPr marL="2287080" lvl="4" indent="-457200">
              <a:lnSpc>
                <a:spcPct val="150000"/>
              </a:lnSpc>
              <a:spcBef>
                <a:spcPts val="400"/>
              </a:spcBef>
              <a:buFont typeface="+mj-lt"/>
              <a:buAutoNum type="arabicPeriod"/>
              <a:tabLst>
                <a:tab pos="0" algn="l"/>
              </a:tabLst>
            </a:pPr>
            <a:r>
              <a:rPr lang="en-IN" sz="1600" spc="-1" dirty="0">
                <a:latin typeface="Times New Roman" panose="02020603050405020304" pitchFamily="18" charset="0"/>
                <a:cs typeface="Times New Roman" panose="02020603050405020304" pitchFamily="18" charset="0"/>
              </a:rPr>
              <a:t>CATEGORICAL ENCODING</a:t>
            </a:r>
          </a:p>
          <a:p>
            <a:pPr marL="2287080" lvl="4" indent="-457200">
              <a:lnSpc>
                <a:spcPct val="150000"/>
              </a:lnSpc>
              <a:spcBef>
                <a:spcPts val="400"/>
              </a:spcBef>
              <a:buFont typeface="+mj-lt"/>
              <a:buAutoNum type="arabicPeriod"/>
              <a:tabLst>
                <a:tab pos="0" algn="l"/>
              </a:tabLst>
            </a:pPr>
            <a:r>
              <a:rPr lang="en-IN" sz="1600" spc="-1" dirty="0">
                <a:latin typeface="Times New Roman" panose="02020603050405020304" pitchFamily="18" charset="0"/>
                <a:cs typeface="Times New Roman" panose="02020603050405020304" pitchFamily="18" charset="0"/>
              </a:rPr>
              <a:t>DATETIME ENCODING/TIMESTAMP CONVERSION</a:t>
            </a:r>
          </a:p>
          <a:p>
            <a:pPr marL="1829880" lvl="3" indent="-457200">
              <a:lnSpc>
                <a:spcPct val="150000"/>
              </a:lnSpc>
              <a:spcBef>
                <a:spcPts val="400"/>
              </a:spcBef>
              <a:buFont typeface="+mj-lt"/>
              <a:buAutoNum type="arabicPeriod"/>
              <a:tabLst>
                <a:tab pos="0" algn="l"/>
              </a:tabLst>
            </a:pPr>
            <a:r>
              <a:rPr lang="en-IN" sz="2000" spc="-1" dirty="0">
                <a:latin typeface="Times New Roman" panose="02020603050405020304" pitchFamily="18" charset="0"/>
                <a:cs typeface="Times New Roman" panose="02020603050405020304" pitchFamily="18" charset="0"/>
              </a:rPr>
              <a:t>Feature Scaling</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MINMAX SCALING</a:t>
            </a:r>
          </a:p>
          <a:p>
            <a:pPr marL="1829880" lvl="3" indent="-457200">
              <a:lnSpc>
                <a:spcPct val="150000"/>
              </a:lnSpc>
              <a:spcBef>
                <a:spcPts val="400"/>
              </a:spcBef>
              <a:buFont typeface="+mj-lt"/>
              <a:buAutoNum type="arabicPeriod"/>
              <a:tabLst>
                <a:tab pos="0" algn="l"/>
              </a:tabLst>
            </a:pPr>
            <a:r>
              <a:rPr lang="en-IN" sz="2000" spc="-1" dirty="0">
                <a:latin typeface="Times New Roman" panose="02020603050405020304" pitchFamily="18" charset="0"/>
                <a:cs typeface="Times New Roman" panose="02020603050405020304" pitchFamily="18" charset="0"/>
              </a:rPr>
              <a:t>Methodology</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GRU.</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TFT.</a:t>
            </a:r>
          </a:p>
          <a:p>
            <a:pPr marL="2287080" lvl="4" indent="-457200">
              <a:lnSpc>
                <a:spcPct val="150000"/>
              </a:lnSpc>
              <a:spcBef>
                <a:spcPts val="400"/>
              </a:spcBef>
              <a:buFont typeface="+mj-lt"/>
              <a:buAutoNum type="arabicPeriod"/>
              <a:tabLst>
                <a:tab pos="0" algn="l"/>
              </a:tabLst>
            </a:pPr>
            <a:r>
              <a:rPr lang="en-US" sz="1600" spc="-1" dirty="0">
                <a:latin typeface="Times New Roman" panose="02020603050405020304" pitchFamily="18" charset="0"/>
                <a:cs typeface="Times New Roman" panose="02020603050405020304" pitchFamily="18" charset="0"/>
              </a:rPr>
              <a:t>INFORMER TRANSFORMER.</a:t>
            </a:r>
          </a:p>
          <a:p>
            <a:pPr marL="1829880" lvl="3" indent="-457200">
              <a:lnSpc>
                <a:spcPct val="150000"/>
              </a:lnSpc>
              <a:spcBef>
                <a:spcPts val="400"/>
              </a:spcBef>
              <a:buFont typeface="+mj-lt"/>
              <a:buAutoNum type="arabicPeriod"/>
              <a:tabLst>
                <a:tab pos="0" algn="l"/>
              </a:tabLst>
            </a:pPr>
            <a:r>
              <a:rPr lang="en-US" sz="2000" strike="noStrike" spc="-1" dirty="0">
                <a:latin typeface="Times New Roman" panose="02020603050405020304" pitchFamily="18" charset="0"/>
                <a:cs typeface="Times New Roman" panose="02020603050405020304" pitchFamily="18" charset="0"/>
              </a:rPr>
              <a:t>Evaluation Method.</a:t>
            </a:r>
            <a:endParaRPr lang="en-IN" sz="2000" strike="noStrike"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68196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F3EE6-898E-1364-5F1A-20B8D47B9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6C13E-A7B4-F5DA-6E7C-D09813A35C34}"/>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585EC476-7C9B-84FF-C70C-0C07C11B8BAB}"/>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113A07D-3B6A-8A77-012F-152AA039473C}"/>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MODULES DESCRIPTION:</a:t>
            </a:r>
          </a:p>
          <a:p>
            <a:pPr marL="730080" lvl="1" indent="-271800">
              <a:spcBef>
                <a:spcPts val="400"/>
              </a:spcBef>
              <a:tabLst>
                <a:tab pos="0" algn="l"/>
              </a:tabLst>
            </a:pPr>
            <a:endParaRPr lang="en-US" sz="2000" b="1" strike="noStrike" spc="-1" dirty="0">
              <a:solidFill>
                <a:srgbClr val="0000FF"/>
              </a:solidFill>
              <a:latin typeface="Times New Roman"/>
              <a:ea typeface="SimSun"/>
            </a:endParaRP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 PRE – PROCESSING: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a:p>
            <a:pPr marL="1258380" lvl="2" indent="-342900" algn="just">
              <a:lnSpc>
                <a:spcPct val="150000"/>
              </a:lnSpc>
              <a:spcBef>
                <a:spcPts val="400"/>
              </a:spcBef>
              <a:buFont typeface="Wingdings" panose="05000000000000000000" pitchFamily="2" charset="2"/>
              <a:buChar char="§"/>
              <a:tabLst>
                <a:tab pos="0" algn="l"/>
              </a:tabLst>
            </a:pPr>
            <a:r>
              <a:rPr lang="en-IN" sz="2000" strike="noStrike" spc="-1" dirty="0">
                <a:latin typeface="Times New Roman" panose="02020603050405020304" pitchFamily="18" charset="0"/>
                <a:ea typeface="SimSun"/>
                <a:cs typeface="Times New Roman" panose="02020603050405020304" pitchFamily="18" charset="0"/>
              </a:rPr>
              <a:t>In pre-processing, there are three parts namely data cleaning, </a:t>
            </a:r>
            <a:r>
              <a:rPr lang="en-IN" sz="2000" spc="-1" dirty="0">
                <a:latin typeface="Times New Roman" panose="02020603050405020304" pitchFamily="18" charset="0"/>
                <a:ea typeface="SimSun"/>
                <a:cs typeface="Times New Roman" panose="02020603050405020304" pitchFamily="18" charset="0"/>
              </a:rPr>
              <a:t>categorical encoding</a:t>
            </a:r>
            <a:r>
              <a:rPr lang="en-IN" sz="2000" strike="noStrike" spc="-1" dirty="0">
                <a:latin typeface="Times New Roman" panose="02020603050405020304" pitchFamily="18" charset="0"/>
                <a:ea typeface="SimSun"/>
                <a:cs typeface="Times New Roman" panose="02020603050405020304" pitchFamily="18" charset="0"/>
              </a:rPr>
              <a:t> and </a:t>
            </a:r>
            <a:r>
              <a:rPr lang="en-IN" sz="2000" spc="-1" dirty="0">
                <a:latin typeface="Times New Roman" panose="02020603050405020304" pitchFamily="18" charset="0"/>
                <a:ea typeface="SimSun"/>
                <a:cs typeface="Times New Roman" panose="02020603050405020304" pitchFamily="18" charset="0"/>
              </a:rPr>
              <a:t>datetime encoding</a:t>
            </a:r>
            <a:r>
              <a:rPr lang="en-IN" sz="2000" strike="noStrike" spc="-1" dirty="0">
                <a:latin typeface="Times New Roman" panose="02020603050405020304" pitchFamily="18" charset="0"/>
                <a:ea typeface="SimSun"/>
                <a:cs typeface="Times New Roman" panose="02020603050405020304" pitchFamily="18" charset="0"/>
              </a:rPr>
              <a:t>.</a:t>
            </a:r>
          </a:p>
          <a:p>
            <a:pPr marL="1829880" lvl="3" indent="-457200" algn="just">
              <a:lnSpc>
                <a:spcPct val="150000"/>
              </a:lnSpc>
              <a:spcBef>
                <a:spcPts val="400"/>
              </a:spcBef>
              <a:buFont typeface="+mj-lt"/>
              <a:buAutoNum type="arabicPeriod"/>
              <a:tabLst>
                <a:tab pos="0" algn="l"/>
              </a:tabLst>
            </a:pPr>
            <a:r>
              <a:rPr lang="en-US" sz="2000" b="1" spc="-1" dirty="0">
                <a:latin typeface="Times New Roman" panose="02020603050405020304" pitchFamily="18" charset="0"/>
                <a:ea typeface="SimSun"/>
                <a:cs typeface="Times New Roman" panose="02020603050405020304" pitchFamily="18" charset="0"/>
              </a:rPr>
              <a:t>Day/Night Discrimination: </a:t>
            </a:r>
            <a:r>
              <a:rPr lang="en-US" sz="2000" spc="-1" dirty="0">
                <a:latin typeface="Times New Roman" panose="02020603050405020304" pitchFamily="18" charset="0"/>
                <a:ea typeface="SimSun"/>
                <a:cs typeface="Times New Roman" panose="02020603050405020304" pitchFamily="18" charset="0"/>
              </a:rPr>
              <a:t>Fill the missing value using </a:t>
            </a:r>
            <a:r>
              <a:rPr lang="en-US" sz="2000" b="1" spc="-1" dirty="0">
                <a:solidFill>
                  <a:schemeClr val="accent5">
                    <a:lumMod val="75000"/>
                  </a:schemeClr>
                </a:solidFill>
                <a:latin typeface="Times New Roman" panose="02020603050405020304" pitchFamily="18" charset="0"/>
                <a:ea typeface="SimSun"/>
                <a:cs typeface="Times New Roman" panose="02020603050405020304" pitchFamily="18" charset="0"/>
              </a:rPr>
              <a:t>forward fill.</a:t>
            </a:r>
            <a:endParaRPr lang="en-US" sz="2000" spc="-1" dirty="0">
              <a:latin typeface="Times New Roman" panose="02020603050405020304" pitchFamily="18" charset="0"/>
              <a:ea typeface="SimSun"/>
              <a:cs typeface="Times New Roman" panose="02020603050405020304" pitchFamily="18" charset="0"/>
            </a:endParaRPr>
          </a:p>
          <a:p>
            <a:pPr marL="1829880" lvl="3" indent="-457200" algn="just">
              <a:lnSpc>
                <a:spcPct val="150000"/>
              </a:lnSpc>
              <a:spcBef>
                <a:spcPts val="400"/>
              </a:spcBef>
              <a:buFont typeface="+mj-lt"/>
              <a:buAutoNum type="arabicPeriod"/>
              <a:tabLst>
                <a:tab pos="0" algn="l"/>
              </a:tabLst>
            </a:pPr>
            <a:r>
              <a:rPr lang="en-US" sz="2000" b="1" spc="-1" dirty="0">
                <a:latin typeface="Times New Roman" panose="02020603050405020304" pitchFamily="18" charset="0"/>
                <a:ea typeface="SimSun"/>
                <a:cs typeface="Times New Roman" panose="02020603050405020304" pitchFamily="18" charset="0"/>
              </a:rPr>
              <a:t>Categorical encoding: </a:t>
            </a:r>
            <a:r>
              <a:rPr lang="en-US" sz="2000" spc="-1" dirty="0">
                <a:latin typeface="Times New Roman" panose="02020603050405020304" pitchFamily="18" charset="0"/>
                <a:ea typeface="SimSun"/>
                <a:cs typeface="Times New Roman" panose="02020603050405020304" pitchFamily="18" charset="0"/>
              </a:rPr>
              <a:t>Convert categorical to numerical  using </a:t>
            </a:r>
            <a:r>
              <a:rPr lang="en-US" sz="2000" b="1" spc="-1" dirty="0">
                <a:solidFill>
                  <a:schemeClr val="accent5">
                    <a:lumMod val="75000"/>
                  </a:schemeClr>
                </a:solidFill>
                <a:latin typeface="Times New Roman" panose="02020603050405020304" pitchFamily="18" charset="0"/>
                <a:ea typeface="SimSun"/>
                <a:cs typeface="Times New Roman" panose="02020603050405020304" pitchFamily="18" charset="0"/>
              </a:rPr>
              <a:t>.cat codes</a:t>
            </a:r>
            <a:r>
              <a:rPr lang="en-US" sz="2000" spc="-1" dirty="0">
                <a:latin typeface="Times New Roman" panose="02020603050405020304" pitchFamily="18" charset="0"/>
                <a:ea typeface="SimSun"/>
                <a:cs typeface="Times New Roman" panose="02020603050405020304" pitchFamily="18" charset="0"/>
              </a:rPr>
              <a:t>.</a:t>
            </a:r>
          </a:p>
          <a:p>
            <a:pPr marL="1829880" lvl="3" indent="-457200" algn="just">
              <a:lnSpc>
                <a:spcPct val="150000"/>
              </a:lnSpc>
              <a:spcBef>
                <a:spcPts val="400"/>
              </a:spcBef>
              <a:buFont typeface="+mj-lt"/>
              <a:buAutoNum type="arabicPeriod"/>
              <a:tabLst>
                <a:tab pos="0" algn="l"/>
              </a:tabLst>
            </a:pPr>
            <a:r>
              <a:rPr lang="en-US" sz="2000" b="1" spc="-1" dirty="0">
                <a:latin typeface="Times New Roman" panose="02020603050405020304" pitchFamily="18" charset="0"/>
                <a:ea typeface="SimSun"/>
                <a:cs typeface="Times New Roman" panose="02020603050405020304" pitchFamily="18" charset="0"/>
              </a:rPr>
              <a:t>Datetime encoding/Timestamp Conversion:</a:t>
            </a:r>
            <a:r>
              <a:rPr lang="en-US" sz="2000" spc="-1" dirty="0">
                <a:latin typeface="Times New Roman" panose="02020603050405020304" pitchFamily="18" charset="0"/>
                <a:ea typeface="SimSun"/>
                <a:cs typeface="Times New Roman" panose="02020603050405020304" pitchFamily="18" charset="0"/>
              </a:rPr>
              <a:t>. Convert date to </a:t>
            </a:r>
            <a:r>
              <a:rPr lang="en-US" sz="2000" b="1" spc="-1" dirty="0">
                <a:solidFill>
                  <a:schemeClr val="accent5">
                    <a:lumMod val="75000"/>
                  </a:schemeClr>
                </a:solidFill>
                <a:latin typeface="Times New Roman" panose="02020603050405020304" pitchFamily="18" charset="0"/>
                <a:ea typeface="SimSun"/>
                <a:cs typeface="Times New Roman" panose="02020603050405020304" pitchFamily="18" charset="0"/>
              </a:rPr>
              <a:t>Unix timestamp </a:t>
            </a:r>
            <a:r>
              <a:rPr lang="en-US" sz="2000" spc="-1" dirty="0">
                <a:latin typeface="Times New Roman" panose="02020603050405020304" pitchFamily="18" charset="0"/>
                <a:ea typeface="SimSun"/>
                <a:cs typeface="Times New Roman" panose="02020603050405020304" pitchFamily="18" charset="0"/>
              </a:rPr>
              <a:t>for numerical processing.</a:t>
            </a:r>
          </a:p>
        </p:txBody>
      </p:sp>
    </p:spTree>
    <p:extLst>
      <p:ext uri="{BB962C8B-B14F-4D97-AF65-F5344CB8AC3E}">
        <p14:creationId xmlns:p14="http://schemas.microsoft.com/office/powerpoint/2010/main" val="3540494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1F04B-C420-2771-1092-4222F7CFB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81767-A9FC-7018-59BB-7FC6CEF47CA3}"/>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58B161BC-919C-5CAF-FB26-97BA8C4DCF36}"/>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F158049-2079-2E17-B1BA-CFCC735A78B1}"/>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FEATURE SCALING:</a:t>
            </a:r>
          </a:p>
          <a:p>
            <a:pPr marL="730080" lvl="1" indent="-271800">
              <a:spcBef>
                <a:spcPts val="400"/>
              </a:spcBef>
              <a:tabLst>
                <a:tab pos="0" algn="l"/>
              </a:tabLst>
            </a:pPr>
            <a:endParaRPr lang="en-US" sz="2000" b="1" strike="noStrike" spc="-1" dirty="0">
              <a:solidFill>
                <a:srgbClr val="0000FF"/>
              </a:solidFill>
              <a:latin typeface="Times New Roman"/>
              <a:ea typeface="SimSun"/>
            </a:endParaRP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 MINMAX SCALING: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The dataset is first converted to NumPy arrays and reshaped into the required format to ensure proper scaling and model compatibility.  </a:t>
            </a: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MinMax Scaling is applied to both input features and target variables, transforming values between 0 and 1 for efficient model training.  </a:t>
            </a: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The final reshaped input data has the format `(samples, 1, features)`, while target values are reshaped to `(samples, 1)`.  </a:t>
            </a:r>
          </a:p>
          <a:p>
            <a:pPr marL="1258380" lvl="2" indent="-342900" algn="just">
              <a:lnSpc>
                <a:spcPct val="150000"/>
              </a:lnSpc>
              <a:spcBef>
                <a:spcPts val="400"/>
              </a:spcBef>
              <a:buFont typeface="Wingdings" panose="05000000000000000000" pitchFamily="2" charset="2"/>
              <a:buChar char="§"/>
              <a:tabLst>
                <a:tab pos="0" algn="l"/>
              </a:tabLst>
            </a:pPr>
            <a:r>
              <a:rPr lang="en-US" sz="2000" strike="noStrike" spc="-1" dirty="0">
                <a:latin typeface="Times New Roman" panose="02020603050405020304" pitchFamily="18" charset="0"/>
                <a:ea typeface="SimSun"/>
                <a:cs typeface="Times New Roman" panose="02020603050405020304" pitchFamily="18" charset="0"/>
              </a:rPr>
              <a:t>These transformations allow the GRU model to process the time-series data effectively without being affected by varying scales across different features.</a:t>
            </a:r>
            <a:endParaRPr lang="en-IN" sz="2000" strike="noStrike" spc="-1" dirty="0">
              <a:latin typeface="Times New Roman" panose="02020603050405020304" pitchFamily="18" charset="0"/>
              <a:ea typeface="SimSun"/>
              <a:cs typeface="Times New Roman" panose="02020603050405020304" pitchFamily="18" charset="0"/>
            </a:endParaRPr>
          </a:p>
        </p:txBody>
      </p:sp>
    </p:spTree>
    <p:extLst>
      <p:ext uri="{BB962C8B-B14F-4D97-AF65-F5344CB8AC3E}">
        <p14:creationId xmlns:p14="http://schemas.microsoft.com/office/powerpoint/2010/main" val="3845231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95492-7305-4FED-DB95-492963534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92E6C-B682-594C-221C-F43BDCAA1663}"/>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4E647200-4FBF-95C2-5429-D740A394F5E5}"/>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A4F44F9A-FABC-834C-34F1-D823B486488F}"/>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DATASET LOAD:</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5DE62D49-DB1B-2965-7597-B3DC213B996F}"/>
              </a:ext>
            </a:extLst>
          </p:cNvPr>
          <p:cNvPicPr>
            <a:picLocks noChangeAspect="1"/>
          </p:cNvPicPr>
          <p:nvPr/>
        </p:nvPicPr>
        <p:blipFill>
          <a:blip r:embed="rId2"/>
          <a:srcRect r="36882"/>
          <a:stretch/>
        </p:blipFill>
        <p:spPr>
          <a:xfrm>
            <a:off x="1450878" y="1661019"/>
            <a:ext cx="9110956" cy="4877481"/>
          </a:xfrm>
          <a:prstGeom prst="rect">
            <a:avLst/>
          </a:prstGeom>
        </p:spPr>
      </p:pic>
    </p:spTree>
    <p:extLst>
      <p:ext uri="{BB962C8B-B14F-4D97-AF65-F5344CB8AC3E}">
        <p14:creationId xmlns:p14="http://schemas.microsoft.com/office/powerpoint/2010/main" val="4190898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C70B-E4E8-DBF2-FF7E-F01684C7A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EE5A1-59FE-A550-7204-839B2B9A2BA1}"/>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F5FDD693-76F9-2490-A999-D7739B2BC08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2E0F7C24-000F-75DE-D0CB-BDD214DB8048}"/>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1.DATA CLEANING(FORWARD FILL):</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58E6F9E2-BA47-00AC-96EE-6E04F9F8FAD2}"/>
              </a:ext>
            </a:extLst>
          </p:cNvPr>
          <p:cNvPicPr>
            <a:picLocks noChangeAspect="1"/>
          </p:cNvPicPr>
          <p:nvPr/>
        </p:nvPicPr>
        <p:blipFill>
          <a:blip r:embed="rId2"/>
          <a:srcRect t="7631"/>
          <a:stretch/>
        </p:blipFill>
        <p:spPr>
          <a:xfrm>
            <a:off x="1373513" y="1695236"/>
            <a:ext cx="9681479" cy="4736388"/>
          </a:xfrm>
          <a:prstGeom prst="rect">
            <a:avLst/>
          </a:prstGeom>
        </p:spPr>
      </p:pic>
    </p:spTree>
    <p:extLst>
      <p:ext uri="{BB962C8B-B14F-4D97-AF65-F5344CB8AC3E}">
        <p14:creationId xmlns:p14="http://schemas.microsoft.com/office/powerpoint/2010/main" val="3679043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82FE-2298-A71A-8D89-38D5CAF44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CDE4A-D6F7-7BA0-1B59-3A1211E6B39B}"/>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DF34A86B-8022-A676-186A-26DD185D107B}"/>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E04CC9B2-EF9E-DC49-F1CA-6883AD2411B9}"/>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1.</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DATA CLEANING(FORWARD FILL):</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084D78E3-D579-DAC2-BA77-BDC4F0B8DF10}"/>
              </a:ext>
            </a:extLst>
          </p:cNvPr>
          <p:cNvPicPr>
            <a:picLocks noChangeAspect="1"/>
          </p:cNvPicPr>
          <p:nvPr/>
        </p:nvPicPr>
        <p:blipFill>
          <a:blip r:embed="rId2"/>
          <a:srcRect r="43469"/>
          <a:stretch/>
        </p:blipFill>
        <p:spPr>
          <a:xfrm>
            <a:off x="1551397" y="2208550"/>
            <a:ext cx="8024117" cy="2794347"/>
          </a:xfrm>
          <a:prstGeom prst="rect">
            <a:avLst/>
          </a:prstGeom>
        </p:spPr>
      </p:pic>
    </p:spTree>
    <p:extLst>
      <p:ext uri="{BB962C8B-B14F-4D97-AF65-F5344CB8AC3E}">
        <p14:creationId xmlns:p14="http://schemas.microsoft.com/office/powerpoint/2010/main" val="3704968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6B14-5FDB-C658-BFD9-04D746E9C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4FDC8-7583-8C75-6B8A-501761B41B07}"/>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71023862-86BA-7C05-3A99-E6C233D40D8E}"/>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6BBDC28E-6F61-AD50-7D0D-920B418C8248}"/>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2.CATEGORICAL ENCODING</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F00571BD-8824-F555-3079-7F53A24E6898}"/>
              </a:ext>
            </a:extLst>
          </p:cNvPr>
          <p:cNvPicPr>
            <a:picLocks noChangeAspect="1"/>
          </p:cNvPicPr>
          <p:nvPr/>
        </p:nvPicPr>
        <p:blipFill>
          <a:blip r:embed="rId2"/>
          <a:srcRect r="36882"/>
          <a:stretch/>
        </p:blipFill>
        <p:spPr>
          <a:xfrm>
            <a:off x="1438382" y="1710031"/>
            <a:ext cx="9657708" cy="4328117"/>
          </a:xfrm>
          <a:prstGeom prst="rect">
            <a:avLst/>
          </a:prstGeom>
        </p:spPr>
      </p:pic>
    </p:spTree>
    <p:extLst>
      <p:ext uri="{BB962C8B-B14F-4D97-AF65-F5344CB8AC3E}">
        <p14:creationId xmlns:p14="http://schemas.microsoft.com/office/powerpoint/2010/main" val="3337616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B7203-CAE4-C4FB-715F-067FB9A1D3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B985D-026C-4413-AC54-54B8FD2FC1CB}"/>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F97F13E2-67F5-1072-988D-50108321425E}"/>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2B9A19C-4755-CE3E-8042-3B6693C48C7E}"/>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DATA PREPROCESSING:</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3.DATETIME ENCODING</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24D97308-B5E7-23E3-4D97-FC7F50B75775}"/>
              </a:ext>
            </a:extLst>
          </p:cNvPr>
          <p:cNvPicPr>
            <a:picLocks noChangeAspect="1"/>
          </p:cNvPicPr>
          <p:nvPr/>
        </p:nvPicPr>
        <p:blipFill>
          <a:blip r:embed="rId2"/>
          <a:srcRect r="36123"/>
          <a:stretch/>
        </p:blipFill>
        <p:spPr>
          <a:xfrm>
            <a:off x="1602769" y="1889906"/>
            <a:ext cx="9390579" cy="3431635"/>
          </a:xfrm>
          <a:prstGeom prst="rect">
            <a:avLst/>
          </a:prstGeom>
        </p:spPr>
      </p:pic>
    </p:spTree>
    <p:extLst>
      <p:ext uri="{BB962C8B-B14F-4D97-AF65-F5344CB8AC3E}">
        <p14:creationId xmlns:p14="http://schemas.microsoft.com/office/powerpoint/2010/main" val="3711685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A7522-D01B-D29C-4C77-3A96E649E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5DBEB-9C91-1E85-6B54-CE6866B95BDE}"/>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04E5BF97-4B9D-1223-8EC0-F550DC1764E6}"/>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5A757638-3A79-11C2-04E6-049B2836110B}"/>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FEAT</a:t>
            </a:r>
            <a:r>
              <a:rPr lang="en-US" sz="2000" b="1" spc="-1" dirty="0">
                <a:solidFill>
                  <a:srgbClr val="0000FF"/>
                </a:solidFill>
                <a:latin typeface="Times New Roman"/>
                <a:ea typeface="SimSun"/>
              </a:rPr>
              <a:t>URE SCALING</a:t>
            </a:r>
            <a:r>
              <a:rPr lang="en-US" sz="2000" b="1" strike="noStrike" spc="-1" dirty="0">
                <a:solidFill>
                  <a:srgbClr val="0000FF"/>
                </a:solidFill>
                <a:latin typeface="Times New Roman"/>
                <a:ea typeface="SimSun"/>
              </a:rPr>
              <a:t>:</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1.MINMAX SCALING: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CBFBE2FF-7479-DEE6-7226-DA54A5D31270}"/>
              </a:ext>
            </a:extLst>
          </p:cNvPr>
          <p:cNvPicPr>
            <a:picLocks noChangeAspect="1"/>
          </p:cNvPicPr>
          <p:nvPr/>
        </p:nvPicPr>
        <p:blipFill>
          <a:blip r:embed="rId2"/>
          <a:srcRect r="40085"/>
          <a:stretch/>
        </p:blipFill>
        <p:spPr>
          <a:xfrm>
            <a:off x="1359614" y="1678791"/>
            <a:ext cx="9719352" cy="4387065"/>
          </a:xfrm>
          <a:prstGeom prst="rect">
            <a:avLst/>
          </a:prstGeom>
        </p:spPr>
      </p:pic>
    </p:spTree>
    <p:extLst>
      <p:ext uri="{BB962C8B-B14F-4D97-AF65-F5344CB8AC3E}">
        <p14:creationId xmlns:p14="http://schemas.microsoft.com/office/powerpoint/2010/main" val="2604891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9A92A-8BB7-C932-2DE1-7841E4214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A64CC-3C2F-C71E-074E-F9D77A2DCEE6}"/>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0AC232B6-DA8D-B181-C417-BFA205CD876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FE0A2694-2EDA-0114-D012-76AE6B16134A}"/>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FEAT</a:t>
            </a:r>
            <a:r>
              <a:rPr lang="en-US" sz="2000" b="1" spc="-1" dirty="0">
                <a:solidFill>
                  <a:srgbClr val="0000FF"/>
                </a:solidFill>
                <a:latin typeface="Times New Roman"/>
                <a:ea typeface="SimSun"/>
              </a:rPr>
              <a:t>URE SCALING</a:t>
            </a:r>
            <a:r>
              <a:rPr lang="en-US" sz="2000" b="1" strike="noStrike" spc="-1" dirty="0">
                <a:solidFill>
                  <a:srgbClr val="0000FF"/>
                </a:solidFill>
                <a:latin typeface="Times New Roman"/>
                <a:ea typeface="SimSun"/>
              </a:rPr>
              <a:t>:</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1.MINMAX SCALING:</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0FA5C9C0-49E3-972B-197A-F900FF13B524}"/>
              </a:ext>
            </a:extLst>
          </p:cNvPr>
          <p:cNvPicPr>
            <a:picLocks noChangeAspect="1"/>
          </p:cNvPicPr>
          <p:nvPr/>
        </p:nvPicPr>
        <p:blipFill>
          <a:blip r:embed="rId2"/>
          <a:srcRect r="42613"/>
          <a:stretch/>
        </p:blipFill>
        <p:spPr>
          <a:xfrm>
            <a:off x="1458931" y="1981145"/>
            <a:ext cx="9390579" cy="3433336"/>
          </a:xfrm>
          <a:prstGeom prst="rect">
            <a:avLst/>
          </a:prstGeom>
        </p:spPr>
      </p:pic>
    </p:spTree>
    <p:extLst>
      <p:ext uri="{BB962C8B-B14F-4D97-AF65-F5344CB8AC3E}">
        <p14:creationId xmlns:p14="http://schemas.microsoft.com/office/powerpoint/2010/main" val="22053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47252-33D6-B40A-0DF3-9D9F2940D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A8648-EEBF-CA9F-CECF-B2FD1EEC41DA}"/>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BDB24469-F5F1-B64D-7570-6E0C24AD2FE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26A72B91-B311-5124-4273-0E256CD10DA8}"/>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a:t>
            </a:r>
            <a:r>
              <a:rPr lang="en-IN" sz="2000" b="1" spc="-1" dirty="0">
                <a:solidFill>
                  <a:srgbClr val="0000FF"/>
                </a:solidFill>
                <a:latin typeface="Times New Roman" panose="02020603050405020304" pitchFamily="18" charset="0"/>
                <a:ea typeface="SimSun"/>
                <a:cs typeface="Times New Roman" panose="02020603050405020304" pitchFamily="18" charset="0"/>
              </a:rPr>
              <a:t>GRU</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14" name="Picture 13">
            <a:extLst>
              <a:ext uri="{FF2B5EF4-FFF2-40B4-BE49-F238E27FC236}">
                <a16:creationId xmlns:a16="http://schemas.microsoft.com/office/drawing/2014/main" id="{7C91FF4E-CDC2-99DB-958A-ADFFAA3E4AAD}"/>
              </a:ext>
            </a:extLst>
          </p:cNvPr>
          <p:cNvPicPr>
            <a:picLocks noChangeAspect="1"/>
          </p:cNvPicPr>
          <p:nvPr/>
        </p:nvPicPr>
        <p:blipFill>
          <a:blip r:embed="rId2"/>
          <a:srcRect l="3859"/>
          <a:stretch/>
        </p:blipFill>
        <p:spPr>
          <a:xfrm>
            <a:off x="3103417" y="1418399"/>
            <a:ext cx="6557819" cy="5279813"/>
          </a:xfrm>
          <a:prstGeom prst="rect">
            <a:avLst/>
          </a:prstGeom>
        </p:spPr>
      </p:pic>
    </p:spTree>
    <p:extLst>
      <p:ext uri="{BB962C8B-B14F-4D97-AF65-F5344CB8AC3E}">
        <p14:creationId xmlns:p14="http://schemas.microsoft.com/office/powerpoint/2010/main" val="2042029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7FAD9-BE4E-E519-A7B9-1AC249BE5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AA593-C258-EB1C-F167-C44A6C02C7F3}"/>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8E272AAD-48BD-2C2D-8062-A66D39376B2F}"/>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20407C8F-1524-D952-1387-A48E8131A9F4}"/>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1.</a:t>
            </a:r>
            <a:r>
              <a:rPr lang="en-IN" sz="2000" b="1" spc="-1" dirty="0">
                <a:solidFill>
                  <a:srgbClr val="0000FF"/>
                </a:solidFill>
                <a:latin typeface="Times New Roman" panose="02020603050405020304" pitchFamily="18" charset="0"/>
                <a:ea typeface="SimSun"/>
                <a:cs typeface="Times New Roman" panose="02020603050405020304" pitchFamily="18" charset="0"/>
              </a:rPr>
              <a:t>GRU</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16" name="Picture 15">
            <a:extLst>
              <a:ext uri="{FF2B5EF4-FFF2-40B4-BE49-F238E27FC236}">
                <a16:creationId xmlns:a16="http://schemas.microsoft.com/office/drawing/2014/main" id="{ACB9F40C-6794-730A-E4A3-B0779B0B6EC8}"/>
              </a:ext>
            </a:extLst>
          </p:cNvPr>
          <p:cNvPicPr>
            <a:picLocks noChangeAspect="1"/>
          </p:cNvPicPr>
          <p:nvPr/>
        </p:nvPicPr>
        <p:blipFill>
          <a:blip r:embed="rId2"/>
          <a:stretch>
            <a:fillRect/>
          </a:stretch>
        </p:blipFill>
        <p:spPr>
          <a:xfrm>
            <a:off x="3038989" y="1679452"/>
            <a:ext cx="6949970" cy="3917783"/>
          </a:xfrm>
          <a:prstGeom prst="rect">
            <a:avLst/>
          </a:prstGeom>
        </p:spPr>
      </p:pic>
    </p:spTree>
    <p:extLst>
      <p:ext uri="{BB962C8B-B14F-4D97-AF65-F5344CB8AC3E}">
        <p14:creationId xmlns:p14="http://schemas.microsoft.com/office/powerpoint/2010/main" val="2707231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8C072-EED1-8456-6365-58030EBF49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BC8CE3-604A-1593-4887-556773C52894}"/>
              </a:ext>
            </a:extLst>
          </p:cNvPr>
          <p:cNvSpPr txBox="1"/>
          <p:nvPr/>
        </p:nvSpPr>
        <p:spPr>
          <a:xfrm>
            <a:off x="1089891" y="662568"/>
            <a:ext cx="6096000" cy="697627"/>
          </a:xfrm>
          <a:prstGeom prst="rect">
            <a:avLst/>
          </a:prstGeom>
          <a:noFill/>
        </p:spPr>
        <p:txBody>
          <a:bodyPr wrap="square">
            <a:spAutoFit/>
          </a:bodyPr>
          <a:lstStyle/>
          <a:p>
            <a:pPr marL="730080" lvl="1" indent="-271800">
              <a:spcBef>
                <a:spcPts val="400"/>
              </a:spcBef>
              <a:tabLst>
                <a:tab pos="0" algn="l"/>
              </a:tabLst>
            </a:pPr>
            <a:r>
              <a:rPr lang="en-US" sz="1800" b="1" strike="noStrike" spc="-1" dirty="0">
                <a:solidFill>
                  <a:srgbClr val="0000FF"/>
                </a:solidFill>
                <a:latin typeface="Times New Roman"/>
                <a:ea typeface="SimSun"/>
              </a:rPr>
              <a:t>METHODOLOGY:</a:t>
            </a:r>
          </a:p>
          <a:p>
            <a:pPr marL="730080" lvl="1" indent="-271800">
              <a:spcBef>
                <a:spcPts val="400"/>
              </a:spcBef>
              <a:tabLst>
                <a:tab pos="0" algn="l"/>
              </a:tabLst>
            </a:pPr>
            <a:r>
              <a:rPr lang="en-IN" sz="1800" b="1" strike="noStrike" spc="-1" dirty="0">
                <a:solidFill>
                  <a:srgbClr val="0000FF"/>
                </a:solidFill>
                <a:latin typeface="Times New Roman" panose="02020603050405020304" pitchFamily="18" charset="0"/>
                <a:ea typeface="SimSun"/>
                <a:cs typeface="Times New Roman" panose="02020603050405020304" pitchFamily="18" charset="0"/>
              </a:rPr>
              <a:t>1.</a:t>
            </a:r>
            <a:r>
              <a:rPr lang="en-IN" sz="1800" b="1" spc="-1" dirty="0">
                <a:solidFill>
                  <a:srgbClr val="0000FF"/>
                </a:solidFill>
                <a:latin typeface="Times New Roman" panose="02020603050405020304" pitchFamily="18" charset="0"/>
                <a:ea typeface="SimSun"/>
                <a:cs typeface="Times New Roman" panose="02020603050405020304" pitchFamily="18" charset="0"/>
              </a:rPr>
              <a:t>GRU</a:t>
            </a:r>
            <a:r>
              <a:rPr lang="en-IN" sz="1800" b="1" strike="noStrike" spc="-1" dirty="0">
                <a:solidFill>
                  <a:srgbClr val="0000FF"/>
                </a:solidFill>
                <a:latin typeface="Times New Roman" panose="02020603050405020304" pitchFamily="18" charset="0"/>
                <a:ea typeface="SimSun"/>
                <a:cs typeface="Times New Roman" panose="02020603050405020304" pitchFamily="18" charset="0"/>
              </a:rPr>
              <a:t>: Output</a:t>
            </a:r>
            <a:endParaRPr lang="en-IN" sz="18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A7AD4BC2-5B54-79A5-6DE1-0569E8D36D7A}"/>
              </a:ext>
            </a:extLst>
          </p:cNvPr>
          <p:cNvPicPr>
            <a:picLocks noChangeAspect="1"/>
          </p:cNvPicPr>
          <p:nvPr/>
        </p:nvPicPr>
        <p:blipFill>
          <a:blip r:embed="rId2"/>
          <a:stretch>
            <a:fillRect/>
          </a:stretch>
        </p:blipFill>
        <p:spPr>
          <a:xfrm>
            <a:off x="1874982" y="1624506"/>
            <a:ext cx="8859550" cy="3972730"/>
          </a:xfrm>
          <a:prstGeom prst="rect">
            <a:avLst/>
          </a:prstGeom>
        </p:spPr>
      </p:pic>
    </p:spTree>
    <p:extLst>
      <p:ext uri="{BB962C8B-B14F-4D97-AF65-F5344CB8AC3E}">
        <p14:creationId xmlns:p14="http://schemas.microsoft.com/office/powerpoint/2010/main" val="1033358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34BF-3F1F-BE44-E83B-9A68D451B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5A516-FD69-914B-8CEE-D10DDE9986B0}"/>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FAB9A8DE-9BBA-8A7B-100E-1E14FC30AE9C}"/>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367F86EA-0EC0-7246-C54C-A0479C97EE3E}"/>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2.INFORMER</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0F7232E3-2216-BE2A-A4D5-ABC4B60EE4F5}"/>
              </a:ext>
            </a:extLst>
          </p:cNvPr>
          <p:cNvPicPr>
            <a:picLocks noChangeAspect="1"/>
          </p:cNvPicPr>
          <p:nvPr/>
        </p:nvPicPr>
        <p:blipFill>
          <a:blip r:embed="rId2"/>
          <a:stretch>
            <a:fillRect/>
          </a:stretch>
        </p:blipFill>
        <p:spPr>
          <a:xfrm>
            <a:off x="3555999" y="1312819"/>
            <a:ext cx="6094273" cy="4810890"/>
          </a:xfrm>
          <a:prstGeom prst="rect">
            <a:avLst/>
          </a:prstGeom>
        </p:spPr>
      </p:pic>
    </p:spTree>
    <p:extLst>
      <p:ext uri="{BB962C8B-B14F-4D97-AF65-F5344CB8AC3E}">
        <p14:creationId xmlns:p14="http://schemas.microsoft.com/office/powerpoint/2010/main" val="6951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9D0C4-FCCE-72D7-AA98-434F9AE51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5D9F6-B81E-DCD8-B08C-34CD9DF3E28E}"/>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427644E9-E978-6E96-0A48-CD75465ADD27}"/>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D554C087-CF35-7740-C04B-3ABEE0530743}"/>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2.INFORMER</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8" name="Picture 7">
            <a:extLst>
              <a:ext uri="{FF2B5EF4-FFF2-40B4-BE49-F238E27FC236}">
                <a16:creationId xmlns:a16="http://schemas.microsoft.com/office/drawing/2014/main" id="{90207C3C-FF8B-D844-A548-8532AB5796DC}"/>
              </a:ext>
            </a:extLst>
          </p:cNvPr>
          <p:cNvPicPr>
            <a:picLocks noChangeAspect="1"/>
          </p:cNvPicPr>
          <p:nvPr/>
        </p:nvPicPr>
        <p:blipFill>
          <a:blip r:embed="rId2"/>
          <a:stretch>
            <a:fillRect/>
          </a:stretch>
        </p:blipFill>
        <p:spPr>
          <a:xfrm>
            <a:off x="3545508" y="1418400"/>
            <a:ext cx="5857110" cy="4885758"/>
          </a:xfrm>
          <a:prstGeom prst="rect">
            <a:avLst/>
          </a:prstGeom>
        </p:spPr>
      </p:pic>
    </p:spTree>
    <p:extLst>
      <p:ext uri="{BB962C8B-B14F-4D97-AF65-F5344CB8AC3E}">
        <p14:creationId xmlns:p14="http://schemas.microsoft.com/office/powerpoint/2010/main" val="3237888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2880-D33D-C011-0D70-A4E6FC0CC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0D41D-80C5-A904-7273-837D5AD57162}"/>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E175E14D-2518-9B77-FAE1-693C615B82FD}"/>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328E6A1F-B828-9818-7AD4-2894CCEB3C39}"/>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2. INFORMER </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 Output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AC9B483C-ABCA-4ECA-2C9E-5832BC9CBB68}"/>
              </a:ext>
            </a:extLst>
          </p:cNvPr>
          <p:cNvPicPr>
            <a:picLocks noChangeAspect="1"/>
          </p:cNvPicPr>
          <p:nvPr/>
        </p:nvPicPr>
        <p:blipFill>
          <a:blip r:embed="rId2"/>
          <a:stretch>
            <a:fillRect/>
          </a:stretch>
        </p:blipFill>
        <p:spPr>
          <a:xfrm>
            <a:off x="2331881" y="1642072"/>
            <a:ext cx="8510762" cy="3936692"/>
          </a:xfrm>
          <a:prstGeom prst="rect">
            <a:avLst/>
          </a:prstGeom>
        </p:spPr>
      </p:pic>
    </p:spTree>
    <p:extLst>
      <p:ext uri="{BB962C8B-B14F-4D97-AF65-F5344CB8AC3E}">
        <p14:creationId xmlns:p14="http://schemas.microsoft.com/office/powerpoint/2010/main" val="2792243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8DCF-55FD-25BB-DE67-41FEE1196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2690F-2176-C7B7-9BA6-0E887AA3149E}"/>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4F1995CF-3E5A-AB2A-BB64-545E76868595}"/>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4D3708C6-31F4-06FC-9FD5-1F2E44CDCF2C}"/>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3</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r>
              <a:rPr lang="en-IN" sz="2000" b="1" spc="-1" dirty="0">
                <a:solidFill>
                  <a:srgbClr val="0000FF"/>
                </a:solidFill>
                <a:latin typeface="Times New Roman" panose="02020603050405020304" pitchFamily="18" charset="0"/>
                <a:ea typeface="SimSun"/>
                <a:cs typeface="Times New Roman" panose="02020603050405020304" pitchFamily="18" charset="0"/>
              </a:rPr>
              <a:t> TFT</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AC79FD33-5F82-EA3E-C67A-B87C27CFD700}"/>
              </a:ext>
            </a:extLst>
          </p:cNvPr>
          <p:cNvPicPr>
            <a:picLocks noChangeAspect="1"/>
          </p:cNvPicPr>
          <p:nvPr/>
        </p:nvPicPr>
        <p:blipFill>
          <a:blip r:embed="rId2"/>
          <a:stretch>
            <a:fillRect/>
          </a:stretch>
        </p:blipFill>
        <p:spPr>
          <a:xfrm>
            <a:off x="3811633" y="1135650"/>
            <a:ext cx="5992888" cy="5220870"/>
          </a:xfrm>
          <a:prstGeom prst="rect">
            <a:avLst/>
          </a:prstGeom>
        </p:spPr>
      </p:pic>
    </p:spTree>
    <p:extLst>
      <p:ext uri="{BB962C8B-B14F-4D97-AF65-F5344CB8AC3E}">
        <p14:creationId xmlns:p14="http://schemas.microsoft.com/office/powerpoint/2010/main" val="4106446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12E3-4FCD-328F-ACD2-7C3CF85D8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4275B-9297-17E0-1C11-F15736CD9E6C}"/>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1A9BB120-C6D8-B733-AF4E-2748FB9E5F9A}"/>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CFAA6212-EF82-2832-339E-0739883CFE0D}"/>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METHODOLOGY:</a:t>
            </a:r>
          </a:p>
          <a:p>
            <a:pPr marL="730080" lvl="1" indent="-271800">
              <a:spcBef>
                <a:spcPts val="400"/>
              </a:spcBef>
              <a:tabLst>
                <a:tab pos="0" algn="l"/>
              </a:tabLst>
            </a:pPr>
            <a:r>
              <a:rPr lang="en-IN" sz="2000" b="1" spc="-1" dirty="0">
                <a:solidFill>
                  <a:srgbClr val="0000FF"/>
                </a:solidFill>
                <a:latin typeface="Times New Roman" panose="02020603050405020304" pitchFamily="18" charset="0"/>
                <a:ea typeface="SimSun"/>
                <a:cs typeface="Times New Roman" panose="02020603050405020304" pitchFamily="18" charset="0"/>
              </a:rPr>
              <a:t>3</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a:t>
            </a:r>
            <a:r>
              <a:rPr lang="en-IN" sz="2000" b="1" spc="-1" dirty="0">
                <a:solidFill>
                  <a:srgbClr val="0000FF"/>
                </a:solidFill>
                <a:latin typeface="Times New Roman" panose="02020603050405020304" pitchFamily="18" charset="0"/>
                <a:ea typeface="SimSun"/>
                <a:cs typeface="Times New Roman" panose="02020603050405020304" pitchFamily="18" charset="0"/>
              </a:rPr>
              <a:t> TFT</a:t>
            </a:r>
            <a:r>
              <a:rPr lang="en-IN" sz="2000" b="1" strike="noStrike" spc="-1" dirty="0">
                <a:solidFill>
                  <a:srgbClr val="0000FF"/>
                </a:solidFill>
                <a:latin typeface="Times New Roman" panose="02020603050405020304" pitchFamily="18" charset="0"/>
                <a:ea typeface="SimSun"/>
                <a:cs typeface="Times New Roman" panose="02020603050405020304" pitchFamily="18" charset="0"/>
              </a:rPr>
              <a:t>: Output</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4" name="Picture 3">
            <a:extLst>
              <a:ext uri="{FF2B5EF4-FFF2-40B4-BE49-F238E27FC236}">
                <a16:creationId xmlns:a16="http://schemas.microsoft.com/office/drawing/2014/main" id="{CB703885-3F02-E3A0-D9A9-F3707C221EC7}"/>
              </a:ext>
            </a:extLst>
          </p:cNvPr>
          <p:cNvPicPr>
            <a:picLocks noChangeAspect="1"/>
          </p:cNvPicPr>
          <p:nvPr/>
        </p:nvPicPr>
        <p:blipFill>
          <a:blip r:embed="rId2"/>
          <a:stretch>
            <a:fillRect/>
          </a:stretch>
        </p:blipFill>
        <p:spPr>
          <a:xfrm>
            <a:off x="2440563" y="1714054"/>
            <a:ext cx="8098127" cy="3230055"/>
          </a:xfrm>
          <a:prstGeom prst="rect">
            <a:avLst/>
          </a:prstGeom>
        </p:spPr>
      </p:pic>
    </p:spTree>
    <p:extLst>
      <p:ext uri="{BB962C8B-B14F-4D97-AF65-F5344CB8AC3E}">
        <p14:creationId xmlns:p14="http://schemas.microsoft.com/office/powerpoint/2010/main" val="2385523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57D3A-1700-EBA5-33AC-42EDF118D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AD2FF-D20E-0DA2-9D9F-FBFBB9C4FD0D}"/>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89C5DEE0-1B38-04A3-0003-4F4FD32F21F0}"/>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AA68025D-5835-87E5-BA05-C0C1ADA89131}"/>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Evaluation Method</a:t>
            </a:r>
            <a:br>
              <a:rPr lang="en-US" sz="2000" b="1" strike="noStrike" spc="-1" dirty="0">
                <a:solidFill>
                  <a:srgbClr val="0000FF"/>
                </a:solidFill>
                <a:latin typeface="Times New Roman"/>
                <a:ea typeface="SimSun"/>
              </a:rPr>
            </a:b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sp>
        <p:nvSpPr>
          <p:cNvPr id="8" name="TextBox 7">
            <a:extLst>
              <a:ext uri="{FF2B5EF4-FFF2-40B4-BE49-F238E27FC236}">
                <a16:creationId xmlns:a16="http://schemas.microsoft.com/office/drawing/2014/main" id="{D88AF001-BF71-2199-D73C-6838DD8806E9}"/>
              </a:ext>
            </a:extLst>
          </p:cNvPr>
          <p:cNvSpPr txBox="1"/>
          <p:nvPr/>
        </p:nvSpPr>
        <p:spPr>
          <a:xfrm>
            <a:off x="3250440" y="2161217"/>
            <a:ext cx="5690520" cy="253556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800" dirty="0">
                <a:solidFill>
                  <a:srgbClr val="212121"/>
                </a:solidFill>
                <a:effectLst/>
                <a:latin typeface="Times New Roman" panose="02020603050405020304" pitchFamily="18" charset="0"/>
                <a:ea typeface="Times New Roman" panose="02020603050405020304" pitchFamily="18" charset="0"/>
              </a:rPr>
              <a:t>MSE (Mean Squared Error)</a:t>
            </a:r>
            <a:endParaRPr lang="en-US" sz="1200" dirty="0">
              <a:effectLst/>
              <a:latin typeface="Times New Roman" panose="02020603050405020304" pitchFamily="18" charset="0"/>
              <a:ea typeface="Times New Roman" panose="02020603050405020304" pitchFamily="18" charset="0"/>
            </a:endParaRPr>
          </a:p>
          <a:p>
            <a:pPr marL="285750" indent="-285750">
              <a:lnSpc>
                <a:spcPct val="150000"/>
              </a:lnSpc>
              <a:buFont typeface="Arial" panose="020B0604020202020204" pitchFamily="34" charset="0"/>
              <a:buChar char="•"/>
            </a:pPr>
            <a:r>
              <a:rPr lang="en-IN" sz="1800" dirty="0">
                <a:solidFill>
                  <a:srgbClr val="212121"/>
                </a:solidFill>
                <a:effectLst/>
                <a:latin typeface="Times New Roman" panose="02020603050405020304" pitchFamily="18" charset="0"/>
                <a:ea typeface="Times New Roman" panose="02020603050405020304" pitchFamily="18" charset="0"/>
              </a:rPr>
              <a:t>MAE (Mean Absolute Error)</a:t>
            </a:r>
            <a:endParaRPr lang="en-US" sz="1200" dirty="0">
              <a:effectLst/>
              <a:latin typeface="Times New Roman" panose="02020603050405020304" pitchFamily="18" charset="0"/>
              <a:ea typeface="Times New Roman" panose="02020603050405020304" pitchFamily="18" charset="0"/>
            </a:endParaRPr>
          </a:p>
          <a:p>
            <a:pPr marL="285750" indent="-285750">
              <a:lnSpc>
                <a:spcPct val="150000"/>
              </a:lnSpc>
              <a:buFont typeface="Arial" panose="020B0604020202020204" pitchFamily="34" charset="0"/>
              <a:buChar char="•"/>
            </a:pPr>
            <a:r>
              <a:rPr lang="en-IN" sz="1800" dirty="0">
                <a:solidFill>
                  <a:srgbClr val="212121"/>
                </a:solidFill>
                <a:effectLst/>
                <a:latin typeface="Times New Roman" panose="02020603050405020304" pitchFamily="18" charset="0"/>
                <a:ea typeface="Times New Roman" panose="02020603050405020304" pitchFamily="18" charset="0"/>
              </a:rPr>
              <a:t> Directional Accuracy </a:t>
            </a:r>
            <a:endParaRPr lang="en-US" sz="1200" dirty="0">
              <a:effectLst/>
              <a:latin typeface="Times New Roman" panose="02020603050405020304" pitchFamily="18" charset="0"/>
              <a:ea typeface="Times New Roman" panose="02020603050405020304" pitchFamily="18" charset="0"/>
            </a:endParaRPr>
          </a:p>
          <a:p>
            <a:pPr marL="285750" indent="-285750">
              <a:lnSpc>
                <a:spcPct val="150000"/>
              </a:lnSpc>
              <a:buFont typeface="Arial" panose="020B0604020202020204" pitchFamily="34" charset="0"/>
              <a:buChar char="•"/>
            </a:pPr>
            <a:r>
              <a:rPr lang="en-IN" sz="1800" dirty="0">
                <a:solidFill>
                  <a:srgbClr val="212121"/>
                </a:solidFill>
                <a:effectLst/>
                <a:latin typeface="Times New Roman" panose="02020603050405020304" pitchFamily="18" charset="0"/>
                <a:ea typeface="Times New Roman" panose="02020603050405020304" pitchFamily="18" charset="0"/>
              </a:rPr>
              <a:t>WMAPE (</a:t>
            </a:r>
            <a:r>
              <a:rPr lang="en-US" sz="1800" dirty="0">
                <a:solidFill>
                  <a:srgbClr val="212121"/>
                </a:solidFill>
                <a:effectLst/>
                <a:latin typeface="Times New Roman" panose="02020603050405020304" pitchFamily="18" charset="0"/>
                <a:ea typeface="Times New Roman" panose="02020603050405020304" pitchFamily="18" charset="0"/>
              </a:rPr>
              <a:t>Weighted Mean Absolute Percentage Error)</a:t>
            </a:r>
            <a:endParaRPr lang="en-US" sz="1200" dirty="0">
              <a:effectLst/>
              <a:latin typeface="Times New Roman" panose="02020603050405020304" pitchFamily="18" charset="0"/>
              <a:ea typeface="Times New Roman" panose="02020603050405020304" pitchFamily="18" charset="0"/>
            </a:endParaRPr>
          </a:p>
          <a:p>
            <a:pPr marL="285750" indent="-285750">
              <a:lnSpc>
                <a:spcPct val="150000"/>
              </a:lnSpc>
              <a:buFont typeface="Arial" panose="020B0604020202020204" pitchFamily="34" charset="0"/>
              <a:buChar char="•"/>
            </a:pPr>
            <a:r>
              <a:rPr lang="en-US" sz="1800" dirty="0">
                <a:solidFill>
                  <a:srgbClr val="212121"/>
                </a:solidFill>
                <a:effectLst/>
                <a:latin typeface="Times New Roman" panose="02020603050405020304" pitchFamily="18" charset="0"/>
                <a:ea typeface="Times New Roman" panose="02020603050405020304" pitchFamily="18" charset="0"/>
              </a:rPr>
              <a:t>Theil’s U Statistic</a:t>
            </a:r>
            <a:endParaRPr lang="en-US" sz="1200" dirty="0">
              <a:effectLst/>
              <a:latin typeface="Times New Roman" panose="02020603050405020304" pitchFamily="18" charset="0"/>
              <a:ea typeface="Times New Roman" panose="02020603050405020304" pitchFamily="18" charset="0"/>
            </a:endParaRPr>
          </a:p>
          <a:p>
            <a:pPr marL="285750" indent="-285750">
              <a:lnSpc>
                <a:spcPct val="150000"/>
              </a:lnSpc>
              <a:buFont typeface="Arial" panose="020B0604020202020204" pitchFamily="34" charset="0"/>
              <a:buChar char="•"/>
            </a:pPr>
            <a:r>
              <a:rPr lang="en-US" sz="1800" dirty="0">
                <a:solidFill>
                  <a:srgbClr val="212121"/>
                </a:solidFill>
                <a:effectLst/>
                <a:latin typeface="Times New Roman" panose="02020603050405020304" pitchFamily="18" charset="0"/>
                <a:ea typeface="Times New Roman" panose="02020603050405020304" pitchFamily="18" charset="0"/>
              </a:rPr>
              <a:t>Profitability Metric</a:t>
            </a:r>
            <a:endParaRPr lang="en-US"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06682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83F0-DDF2-9A22-C450-45FCC9F0C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0E5FB-9D16-9266-ABD0-2A3729FEB9B4}"/>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0D5B33F3-5D79-E27B-DF83-E47A6C78D1A0}"/>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04ED1AE4-2627-1036-D853-8CDD9A7A46C4}"/>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Evaluation Method</a:t>
            </a:r>
            <a:br>
              <a:rPr lang="en-US" sz="2000" b="1" strike="noStrike" spc="-1" dirty="0">
                <a:solidFill>
                  <a:srgbClr val="0000FF"/>
                </a:solidFill>
                <a:latin typeface="Times New Roman"/>
                <a:ea typeface="SimSun"/>
              </a:rPr>
            </a:b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502BA296-02C7-8E4B-FFF3-0C5096EEC2C3}"/>
              </a:ext>
            </a:extLst>
          </p:cNvPr>
          <p:cNvPicPr>
            <a:picLocks noChangeAspect="1"/>
          </p:cNvPicPr>
          <p:nvPr/>
        </p:nvPicPr>
        <p:blipFill>
          <a:blip r:embed="rId2"/>
          <a:stretch>
            <a:fillRect/>
          </a:stretch>
        </p:blipFill>
        <p:spPr>
          <a:xfrm>
            <a:off x="2629148" y="1514764"/>
            <a:ext cx="6357834" cy="4729018"/>
          </a:xfrm>
          <a:prstGeom prst="rect">
            <a:avLst/>
          </a:prstGeom>
        </p:spPr>
      </p:pic>
    </p:spTree>
    <p:extLst>
      <p:ext uri="{BB962C8B-B14F-4D97-AF65-F5344CB8AC3E}">
        <p14:creationId xmlns:p14="http://schemas.microsoft.com/office/powerpoint/2010/main" val="443880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96D9F-9DC2-20CB-007C-EDCCB658E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B350C-2E8E-FBFE-1625-D1F408813FA5}"/>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45B2D9E2-E105-06F8-BBCC-07EFA65A63D0}"/>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35B46426-39C9-5AAF-AAF9-91BCDCEEFD94}"/>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Evaluation Method : Output</a:t>
            </a:r>
            <a:br>
              <a:rPr lang="en-US" sz="2000" b="1" strike="noStrike" spc="-1" dirty="0">
                <a:solidFill>
                  <a:srgbClr val="0000FF"/>
                </a:solidFill>
                <a:latin typeface="Times New Roman"/>
                <a:ea typeface="SimSun"/>
              </a:rPr>
            </a:b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3" name="Picture 2">
            <a:extLst>
              <a:ext uri="{FF2B5EF4-FFF2-40B4-BE49-F238E27FC236}">
                <a16:creationId xmlns:a16="http://schemas.microsoft.com/office/drawing/2014/main" id="{6D621BD2-EC6B-4982-E5D0-DCC391BB217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24779" y="1671867"/>
            <a:ext cx="7542442" cy="3851478"/>
          </a:xfrm>
          <a:prstGeom prst="rect">
            <a:avLst/>
          </a:prstGeom>
          <a:noFill/>
          <a:ln>
            <a:noFill/>
          </a:ln>
        </p:spPr>
      </p:pic>
    </p:spTree>
    <p:extLst>
      <p:ext uri="{BB962C8B-B14F-4D97-AF65-F5344CB8AC3E}">
        <p14:creationId xmlns:p14="http://schemas.microsoft.com/office/powerpoint/2010/main" val="1568746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EB97-FF8A-2F78-EC3A-7EA3E7EC4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68D9E-E231-6BF6-E048-D5386A5CA069}"/>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AFFDAE20-2712-1F15-E499-0D4E93026D93}"/>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6B165920-A6EC-6997-0D9F-7A91252123C0}"/>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Evaluation Method : </a:t>
            </a:r>
            <a:r>
              <a:rPr lang="en-US" sz="2000" b="1" strike="noStrike" spc="-1" dirty="0" err="1">
                <a:solidFill>
                  <a:srgbClr val="0000FF"/>
                </a:solidFill>
                <a:latin typeface="Times New Roman"/>
                <a:ea typeface="SimSun"/>
              </a:rPr>
              <a:t>Profitablity</a:t>
            </a:r>
            <a:r>
              <a:rPr lang="en-US" sz="2000" b="1" strike="noStrike" spc="-1" dirty="0">
                <a:solidFill>
                  <a:srgbClr val="0000FF"/>
                </a:solidFill>
                <a:latin typeface="Times New Roman"/>
                <a:ea typeface="SimSun"/>
              </a:rPr>
              <a:t> Metric</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pic>
        <p:nvPicPr>
          <p:cNvPr id="7" name="Picture 6">
            <a:extLst>
              <a:ext uri="{FF2B5EF4-FFF2-40B4-BE49-F238E27FC236}">
                <a16:creationId xmlns:a16="http://schemas.microsoft.com/office/drawing/2014/main" id="{BCB647BF-59CA-9290-F2D3-BBA53AEDE30F}"/>
              </a:ext>
            </a:extLst>
          </p:cNvPr>
          <p:cNvPicPr>
            <a:picLocks noChangeAspect="1"/>
          </p:cNvPicPr>
          <p:nvPr/>
        </p:nvPicPr>
        <p:blipFill>
          <a:blip r:embed="rId2"/>
          <a:srcRect t="4369"/>
          <a:stretch/>
        </p:blipFill>
        <p:spPr>
          <a:xfrm>
            <a:off x="1437655" y="1828799"/>
            <a:ext cx="10021455" cy="3940351"/>
          </a:xfrm>
          <a:prstGeom prst="rect">
            <a:avLst/>
          </a:prstGeom>
        </p:spPr>
      </p:pic>
    </p:spTree>
    <p:extLst>
      <p:ext uri="{BB962C8B-B14F-4D97-AF65-F5344CB8AC3E}">
        <p14:creationId xmlns:p14="http://schemas.microsoft.com/office/powerpoint/2010/main" val="3968451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D4062-05D0-DAD9-98FE-CF0785201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F8B32-59AA-E9E6-A1FB-3FF3A1EFF65C}"/>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9271244F-491A-1260-5CD3-2D323157B59B}"/>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B637ABDD-2A85-EBE4-9723-6B0B01383B5A}"/>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Evaluation Method</a:t>
            </a:r>
            <a:br>
              <a:rPr lang="en-US" sz="2000" b="1" strike="noStrike" spc="-1" dirty="0">
                <a:solidFill>
                  <a:srgbClr val="0000FF"/>
                </a:solidFill>
                <a:latin typeface="Times New Roman"/>
                <a:ea typeface="SimSun"/>
              </a:rPr>
            </a:b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graphicFrame>
        <p:nvGraphicFramePr>
          <p:cNvPr id="4" name="Table 3">
            <a:extLst>
              <a:ext uri="{FF2B5EF4-FFF2-40B4-BE49-F238E27FC236}">
                <a16:creationId xmlns:a16="http://schemas.microsoft.com/office/drawing/2014/main" id="{655995AF-4805-375F-179F-EB5A3128130D}"/>
              </a:ext>
            </a:extLst>
          </p:cNvPr>
          <p:cNvGraphicFramePr>
            <a:graphicFrameLocks noGrp="1"/>
          </p:cNvGraphicFramePr>
          <p:nvPr>
            <p:extLst>
              <p:ext uri="{D42A27DB-BD31-4B8C-83A1-F6EECF244321}">
                <p14:modId xmlns:p14="http://schemas.microsoft.com/office/powerpoint/2010/main" val="279586209"/>
              </p:ext>
            </p:extLst>
          </p:nvPr>
        </p:nvGraphicFramePr>
        <p:xfrm>
          <a:off x="2456873" y="1884217"/>
          <a:ext cx="6964217" cy="3768437"/>
        </p:xfrm>
        <a:graphic>
          <a:graphicData uri="http://schemas.openxmlformats.org/drawingml/2006/table">
            <a:tbl>
              <a:tblPr firstRow="1" firstCol="1" bandRow="1">
                <a:tableStyleId>{5C22544A-7EE6-4342-B048-85BDC9FD1C3A}</a:tableStyleId>
              </a:tblPr>
              <a:tblGrid>
                <a:gridCol w="979132">
                  <a:extLst>
                    <a:ext uri="{9D8B030D-6E8A-4147-A177-3AD203B41FA5}">
                      <a16:colId xmlns:a16="http://schemas.microsoft.com/office/drawing/2014/main" val="3283017270"/>
                    </a:ext>
                  </a:extLst>
                </a:gridCol>
                <a:gridCol w="972784">
                  <a:extLst>
                    <a:ext uri="{9D8B030D-6E8A-4147-A177-3AD203B41FA5}">
                      <a16:colId xmlns:a16="http://schemas.microsoft.com/office/drawing/2014/main" val="1904113507"/>
                    </a:ext>
                  </a:extLst>
                </a:gridCol>
                <a:gridCol w="918829">
                  <a:extLst>
                    <a:ext uri="{9D8B030D-6E8A-4147-A177-3AD203B41FA5}">
                      <a16:colId xmlns:a16="http://schemas.microsoft.com/office/drawing/2014/main" val="3688167980"/>
                    </a:ext>
                  </a:extLst>
                </a:gridCol>
                <a:gridCol w="984687">
                  <a:extLst>
                    <a:ext uri="{9D8B030D-6E8A-4147-A177-3AD203B41FA5}">
                      <a16:colId xmlns:a16="http://schemas.microsoft.com/office/drawing/2014/main" val="3441537260"/>
                    </a:ext>
                  </a:extLst>
                </a:gridCol>
                <a:gridCol w="980719">
                  <a:extLst>
                    <a:ext uri="{9D8B030D-6E8A-4147-A177-3AD203B41FA5}">
                      <a16:colId xmlns:a16="http://schemas.microsoft.com/office/drawing/2014/main" val="848523661"/>
                    </a:ext>
                  </a:extLst>
                </a:gridCol>
                <a:gridCol w="961676">
                  <a:extLst>
                    <a:ext uri="{9D8B030D-6E8A-4147-A177-3AD203B41FA5}">
                      <a16:colId xmlns:a16="http://schemas.microsoft.com/office/drawing/2014/main" val="2333438625"/>
                    </a:ext>
                  </a:extLst>
                </a:gridCol>
                <a:gridCol w="1166390">
                  <a:extLst>
                    <a:ext uri="{9D8B030D-6E8A-4147-A177-3AD203B41FA5}">
                      <a16:colId xmlns:a16="http://schemas.microsoft.com/office/drawing/2014/main" val="2351512497"/>
                    </a:ext>
                  </a:extLst>
                </a:gridCol>
              </a:tblGrid>
              <a:tr h="1273931">
                <a:tc>
                  <a:txBody>
                    <a:bodyPr/>
                    <a:lstStyle/>
                    <a:p>
                      <a:pPr algn="ctr">
                        <a:lnSpc>
                          <a:spcPct val="150000"/>
                        </a:lnSpc>
                        <a:buNone/>
                      </a:pPr>
                      <a:r>
                        <a:rPr lang="en-US" sz="1200" kern="100" dirty="0">
                          <a:effectLst/>
                        </a:rPr>
                        <a:t>Method</a:t>
                      </a:r>
                      <a:endParaRPr lang="en-US" sz="1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MSE</a:t>
                      </a:r>
                      <a:endParaRPr lang="en-US" sz="1000" kern="100">
                        <a:effectLst/>
                      </a:endParaRPr>
                    </a:p>
                    <a:p>
                      <a:pPr algn="ctr">
                        <a:lnSpc>
                          <a:spcPct val="150000"/>
                        </a:lnSpc>
                        <a:buNone/>
                      </a:pPr>
                      <a:r>
                        <a:rPr lang="en-US" sz="1200" kern="100">
                          <a:effectLst/>
                        </a:rPr>
                        <a:t> </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US" sz="1200" kern="100">
                          <a:effectLst/>
                        </a:rPr>
                        <a:t>MAE</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Accuracy (%)</a:t>
                      </a:r>
                      <a:endParaRPr lang="en-US" sz="1000" kern="100">
                        <a:effectLst/>
                      </a:endParaRPr>
                    </a:p>
                    <a:p>
                      <a:pPr algn="ctr">
                        <a:lnSpc>
                          <a:spcPct val="150000"/>
                        </a:lnSpc>
                        <a:buNone/>
                      </a:pPr>
                      <a:r>
                        <a:rPr lang="en-US" sz="1200" kern="100">
                          <a:effectLst/>
                        </a:rPr>
                        <a:t> </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US" sz="1200" kern="100">
                          <a:effectLst/>
                        </a:rPr>
                        <a:t>WMAPE (%)</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Theil’s U Statistic</a:t>
                      </a:r>
                      <a:endParaRPr lang="en-US" sz="1000" kern="100">
                        <a:effectLst/>
                      </a:endParaRPr>
                    </a:p>
                    <a:p>
                      <a:pPr algn="ctr">
                        <a:lnSpc>
                          <a:spcPct val="150000"/>
                        </a:lnSpc>
                        <a:buNone/>
                      </a:pPr>
                      <a:r>
                        <a:rPr lang="en-US" sz="1200" kern="100">
                          <a:effectLst/>
                        </a:rPr>
                        <a:t> </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Profitability Metri</a:t>
                      </a:r>
                      <a:endParaRPr lang="en-US" sz="1000" kern="100">
                        <a:effectLst/>
                      </a:endParaRPr>
                    </a:p>
                    <a:p>
                      <a:pPr algn="ctr">
                        <a:lnSpc>
                          <a:spcPct val="150000"/>
                        </a:lnSpc>
                        <a:buNone/>
                      </a:pPr>
                      <a:r>
                        <a:rPr lang="en-US" sz="1200" kern="100">
                          <a:effectLst/>
                        </a:rPr>
                        <a:t> </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00099005"/>
                  </a:ext>
                </a:extLst>
              </a:tr>
              <a:tr h="831502">
                <a:tc>
                  <a:txBody>
                    <a:bodyPr/>
                    <a:lstStyle/>
                    <a:p>
                      <a:pPr algn="ctr">
                        <a:lnSpc>
                          <a:spcPct val="150000"/>
                        </a:lnSpc>
                        <a:buNone/>
                      </a:pPr>
                      <a:r>
                        <a:rPr lang="en-US" sz="1200" kern="100">
                          <a:effectLst/>
                        </a:rPr>
                        <a:t>GRU</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0.082315</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US" sz="1200" kern="100">
                          <a:effectLst/>
                        </a:rPr>
                        <a:t>0.254891</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58.42</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82.19</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0.8156</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92.3456</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21203462"/>
                  </a:ext>
                </a:extLst>
              </a:tr>
              <a:tr h="831502">
                <a:tc>
                  <a:txBody>
                    <a:bodyPr/>
                    <a:lstStyle/>
                    <a:p>
                      <a:pPr algn="ctr">
                        <a:lnSpc>
                          <a:spcPct val="150000"/>
                        </a:lnSpc>
                        <a:buNone/>
                      </a:pPr>
                      <a:r>
                        <a:rPr lang="en-US" sz="1200" kern="100">
                          <a:effectLst/>
                        </a:rPr>
                        <a:t>Informer</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0.071204</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0.231456</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60.89</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79.65</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0.7643</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98.1278</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90690382"/>
                  </a:ext>
                </a:extLst>
              </a:tr>
              <a:tr h="831502">
                <a:tc>
                  <a:txBody>
                    <a:bodyPr/>
                    <a:lstStyle/>
                    <a:p>
                      <a:pPr algn="ctr">
                        <a:lnSpc>
                          <a:spcPct val="150000"/>
                        </a:lnSpc>
                        <a:buNone/>
                      </a:pPr>
                      <a:r>
                        <a:rPr lang="en-US" sz="1200" kern="100">
                          <a:effectLst/>
                        </a:rPr>
                        <a:t>TFT</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0.063848</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0.216467</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62.57</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76.43</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a:effectLst/>
                        </a:rPr>
                        <a:t>0.7201</a:t>
                      </a:r>
                      <a:endParaRPr lang="en-US" sz="1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200" kern="100" dirty="0">
                          <a:effectLst/>
                        </a:rPr>
                        <a:t>103.5992</a:t>
                      </a:r>
                      <a:endParaRPr lang="en-US" sz="1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35509913"/>
                  </a:ext>
                </a:extLst>
              </a:tr>
            </a:tbl>
          </a:graphicData>
        </a:graphic>
      </p:graphicFrame>
    </p:spTree>
    <p:extLst>
      <p:ext uri="{BB962C8B-B14F-4D97-AF65-F5344CB8AC3E}">
        <p14:creationId xmlns:p14="http://schemas.microsoft.com/office/powerpoint/2010/main" val="6910211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81541-B7A7-FC9C-2027-A3A2FC5A4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FD9AE-6259-4253-9B9F-96228E26AA83}"/>
              </a:ext>
            </a:extLst>
          </p:cNvPr>
          <p:cNvSpPr>
            <a:spLocks noGrp="1"/>
          </p:cNvSpPr>
          <p:nvPr>
            <p:ph type="title"/>
          </p:nvPr>
        </p:nvSpPr>
        <p:spPr/>
        <p:txBody>
          <a:bodyPr/>
          <a:lstStyle/>
          <a:p>
            <a:r>
              <a:rPr lang="en-IN" dirty="0"/>
              <a:t>      </a:t>
            </a:r>
          </a:p>
        </p:txBody>
      </p:sp>
      <p:sp>
        <p:nvSpPr>
          <p:cNvPr id="5" name="CustomShape 2">
            <a:extLst>
              <a:ext uri="{FF2B5EF4-FFF2-40B4-BE49-F238E27FC236}">
                <a16:creationId xmlns:a16="http://schemas.microsoft.com/office/drawing/2014/main" id="{A52AB53F-62BA-5613-75A8-04F81B2A310C}"/>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593E2FEE-9F02-5B3B-DB36-1A4ABA5C25A2}"/>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CONCLUSION</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sp>
        <p:nvSpPr>
          <p:cNvPr id="7" name="TextBox 6">
            <a:extLst>
              <a:ext uri="{FF2B5EF4-FFF2-40B4-BE49-F238E27FC236}">
                <a16:creationId xmlns:a16="http://schemas.microsoft.com/office/drawing/2014/main" id="{070CE5BA-5BF3-838E-8443-591A68C7C84B}"/>
              </a:ext>
            </a:extLst>
          </p:cNvPr>
          <p:cNvSpPr txBox="1"/>
          <p:nvPr/>
        </p:nvSpPr>
        <p:spPr>
          <a:xfrm>
            <a:off x="1662545" y="1418400"/>
            <a:ext cx="10043145" cy="5233740"/>
          </a:xfrm>
          <a:prstGeom prst="rect">
            <a:avLst/>
          </a:prstGeom>
          <a:noFill/>
        </p:spPr>
        <p:txBody>
          <a:bodyPr wrap="square">
            <a:spAutoFit/>
          </a:bodyPr>
          <a:lstStyle/>
          <a:p>
            <a:pPr marL="285750" indent="-285750" algn="just">
              <a:lnSpc>
                <a:spcPct val="150000"/>
              </a:lnSpc>
              <a:spcAft>
                <a:spcPts val="800"/>
              </a:spcAft>
              <a:buFont typeface="Wingdings" panose="05000000000000000000" pitchFamily="2" charset="2"/>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proposed deep learning framework, integrating GRU, Informer, and TFT, demonstrates a robust and effective approach for forex price prediction and trading simulation. By leveraging advanced preprocessing techniques and combining the strengths of GRU for short-term sequence </a:t>
            </a:r>
            <a:r>
              <a:rPr lang="en-IN"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Informer for long-sequence attention, and TFT for probabilistic forecasting, the framework successfully captures both short- and long-term patterns in high-dimensional forex data.</a:t>
            </a:r>
          </a:p>
          <a:p>
            <a:pPr marL="285750" indent="-285750" algn="just">
              <a:lnSpc>
                <a:spcPct val="150000"/>
              </a:lnSpc>
              <a:spcAft>
                <a:spcPts val="800"/>
              </a:spcAft>
              <a:buFont typeface="Wingdings" panose="05000000000000000000" pitchFamily="2" charset="2"/>
              <a:buChar char="§"/>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TFT stands out as the top performer, achieving an MSE of 0.06, MAE of 0.216467, directional accuracy of 62.57%, and a profitability metric of 103.5992 under realistic trading constraints. These results highlight the framework's capability to enhance predictive performance and profitability, making it a valuable tool for forex traders seeking data-driven strategies. The use of early stopping and attention-based feature selection further ensures resilience against market volatility, solidifying its practical applicability.</a:t>
            </a:r>
          </a:p>
          <a:p>
            <a:pPr marL="285750" indent="-285750" algn="just">
              <a:lnSpc>
                <a:spcPct val="150000"/>
              </a:lnSpc>
              <a:spcAft>
                <a:spcPts val="800"/>
              </a:spcAft>
              <a:buFont typeface="Wingdings" panose="05000000000000000000" pitchFamily="2" charset="2"/>
              <a:buChar char="§"/>
            </a:pPr>
            <a:endPar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62557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CEBC1-01D9-9924-E4B0-3B2AA4FFF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344F1-864C-DC66-C51B-02C612FC46CA}"/>
              </a:ext>
            </a:extLst>
          </p:cNvPr>
          <p:cNvSpPr>
            <a:spLocks noGrp="1"/>
          </p:cNvSpPr>
          <p:nvPr>
            <p:ph type="title"/>
          </p:nvPr>
        </p:nvSpPr>
        <p:spPr>
          <a:xfrm>
            <a:off x="609780" y="1103300"/>
            <a:ext cx="10972440" cy="1144800"/>
          </a:xfrm>
        </p:spPr>
        <p:txBody>
          <a:bodyPr/>
          <a:lstStyle/>
          <a:p>
            <a:r>
              <a:rPr lang="en-IN" dirty="0"/>
              <a:t>      </a:t>
            </a:r>
          </a:p>
        </p:txBody>
      </p:sp>
      <p:sp>
        <p:nvSpPr>
          <p:cNvPr id="5" name="CustomShape 2">
            <a:extLst>
              <a:ext uri="{FF2B5EF4-FFF2-40B4-BE49-F238E27FC236}">
                <a16:creationId xmlns:a16="http://schemas.microsoft.com/office/drawing/2014/main" id="{21DD4BDF-38F5-1E64-C106-4757717226F0}"/>
              </a:ext>
            </a:extLst>
          </p:cNvPr>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6" name="CustomShape 5">
            <a:extLst>
              <a:ext uri="{FF2B5EF4-FFF2-40B4-BE49-F238E27FC236}">
                <a16:creationId xmlns:a16="http://schemas.microsoft.com/office/drawing/2014/main" id="{6C1CC984-B92E-3F6E-F52B-2C3A82807CF3}"/>
              </a:ext>
            </a:extLst>
          </p:cNvPr>
          <p:cNvSpPr/>
          <p:nvPr/>
        </p:nvSpPr>
        <p:spPr>
          <a:xfrm>
            <a:off x="732890" y="854928"/>
            <a:ext cx="10972800" cy="550159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730080" lvl="1" indent="-271800">
              <a:spcBef>
                <a:spcPts val="400"/>
              </a:spcBef>
              <a:tabLst>
                <a:tab pos="0" algn="l"/>
              </a:tabLst>
            </a:pPr>
            <a:r>
              <a:rPr lang="en-US" sz="2000" b="1" strike="noStrike" spc="-1" dirty="0">
                <a:solidFill>
                  <a:srgbClr val="0000FF"/>
                </a:solidFill>
                <a:latin typeface="Times New Roman"/>
                <a:ea typeface="SimSun"/>
              </a:rPr>
              <a:t>FUTURE ENHANCEMENTS</a:t>
            </a:r>
            <a:endParaRPr lang="en-IN" sz="2000" b="1" spc="-1" dirty="0">
              <a:solidFill>
                <a:srgbClr val="0000FF"/>
              </a:solidFill>
              <a:latin typeface="Times New Roman" panose="02020603050405020304" pitchFamily="18" charset="0"/>
              <a:ea typeface="SimSun"/>
              <a:cs typeface="Times New Roman" panose="02020603050405020304" pitchFamily="18" charset="0"/>
            </a:endParaRPr>
          </a:p>
        </p:txBody>
      </p:sp>
      <p:sp>
        <p:nvSpPr>
          <p:cNvPr id="10" name="Rectangle 5">
            <a:extLst>
              <a:ext uri="{FF2B5EF4-FFF2-40B4-BE49-F238E27FC236}">
                <a16:creationId xmlns:a16="http://schemas.microsoft.com/office/drawing/2014/main" id="{E27DE5D2-B602-71E7-0772-F9618765407E}"/>
              </a:ext>
            </a:extLst>
          </p:cNvPr>
          <p:cNvSpPr>
            <a:spLocks noChangeArrowheads="1"/>
          </p:cNvSpPr>
          <p:nvPr/>
        </p:nvSpPr>
        <p:spPr bwMode="auto">
          <a:xfrm>
            <a:off x="1532990" y="1590842"/>
            <a:ext cx="9372599"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Incorporate Multi-Frequency Time-Series Analysis: Expand the framework to analyze forex data across multiple time frequencies to capture a broader range of market dynamics and improve prediction accuracy for different trading horizons.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Integrate External Factors: Enhance the model by incorporating macroeconomic indicators and market sentiment data to account for exogenous influences on forex prices, potentially boosting robustness and predictive power.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Extend to Multi-Currency Predictions: Generalize the framework to predict price movements across multiple currency pairs simultaneously, enabling portfolio-level optimization and risk management for traders operating in diverse forex markets.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Implement Reinforcement Learning and Real-Time Deployment: Combine reinforcement learning for adaptive trading strategy optimization with a cloud-based real-time deployment system, allowing the framework to dynamically adjust to live market conditions and maximize profitability.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79869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2" name="CustomShape 5">
            <a:extLst>
              <a:ext uri="{FF2B5EF4-FFF2-40B4-BE49-F238E27FC236}">
                <a16:creationId xmlns:a16="http://schemas.microsoft.com/office/drawing/2014/main" id="{537494B4-AF46-1934-D19B-3D20C75AF3B0}"/>
              </a:ext>
            </a:extLst>
          </p:cNvPr>
          <p:cNvSpPr/>
          <p:nvPr/>
        </p:nvSpPr>
        <p:spPr>
          <a:xfrm>
            <a:off x="1057680" y="857121"/>
            <a:ext cx="10076485" cy="5143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72880" indent="-271800">
              <a:lnSpc>
                <a:spcPct val="100000"/>
              </a:lnSpc>
              <a:spcBef>
                <a:spcPts val="400"/>
              </a:spcBef>
              <a:tabLst>
                <a:tab pos="0" algn="l"/>
              </a:tabLst>
            </a:pPr>
            <a:r>
              <a:rPr lang="en-US" sz="2000" b="1" strike="noStrike" spc="-1" dirty="0">
                <a:solidFill>
                  <a:srgbClr val="0000FF"/>
                </a:solidFill>
                <a:latin typeface="Times New Roman"/>
                <a:ea typeface="SimSun"/>
              </a:rPr>
              <a:t>SOFTWARE SPECIFICATIONS:</a:t>
            </a:r>
            <a:endParaRPr lang="en-IN" sz="2000" b="1" spc="-1" dirty="0">
              <a:latin typeface="Times New Roman" panose="02020603050405020304" pitchFamily="18" charset="0"/>
              <a:cs typeface="Times New Roman" panose="02020603050405020304" pitchFamily="18" charset="0"/>
            </a:endParaRPr>
          </a:p>
          <a:p>
            <a:pPr marL="272880" indent="-271800">
              <a:lnSpc>
                <a:spcPct val="100000"/>
              </a:lnSpc>
              <a:spcBef>
                <a:spcPts val="400"/>
              </a:spcBef>
              <a:tabLst>
                <a:tab pos="0" algn="l"/>
              </a:tabLst>
            </a:pPr>
            <a:endParaRPr lang="en-IN" sz="2000" b="1" spc="-1" dirty="0">
              <a:latin typeface="Times New Roman" panose="02020603050405020304" pitchFamily="18" charset="0"/>
              <a:cs typeface="Times New Roman" panose="02020603050405020304" pitchFamily="18" charset="0"/>
            </a:endParaRPr>
          </a:p>
          <a:p>
            <a:pPr marL="1187280" lvl="2" indent="-271800">
              <a:lnSpc>
                <a:spcPct val="2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Software	    :  </a:t>
            </a:r>
            <a:r>
              <a:rPr lang="en-IN" sz="2000" spc="-1" dirty="0">
                <a:latin typeface="Times New Roman" panose="02020603050405020304" pitchFamily="18" charset="0"/>
                <a:cs typeface="Times New Roman" panose="02020603050405020304" pitchFamily="18" charset="0"/>
              </a:rPr>
              <a:t>Google Co-lab</a:t>
            </a:r>
          </a:p>
          <a:p>
            <a:pPr marL="1187280" lvl="2" indent="-271800">
              <a:lnSpc>
                <a:spcPct val="2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Language	    :  </a:t>
            </a:r>
            <a:r>
              <a:rPr lang="en-IN" sz="2000" spc="-1" dirty="0">
                <a:latin typeface="Times New Roman" panose="02020603050405020304" pitchFamily="18" charset="0"/>
                <a:cs typeface="Times New Roman" panose="02020603050405020304" pitchFamily="18" charset="0"/>
              </a:rPr>
              <a:t>Python</a:t>
            </a:r>
          </a:p>
          <a:p>
            <a:pPr marL="1187280" lvl="2" indent="-271800">
              <a:lnSpc>
                <a:spcPct val="200000"/>
              </a:lnSpc>
              <a:spcBef>
                <a:spcPts val="400"/>
              </a:spcBef>
              <a:tabLst>
                <a:tab pos="0" algn="l"/>
              </a:tabLst>
            </a:pPr>
            <a:r>
              <a:rPr lang="en-IN" sz="2000" b="1" spc="-1" dirty="0">
                <a:latin typeface="Times New Roman" panose="02020603050405020304" pitchFamily="18" charset="0"/>
                <a:cs typeface="Times New Roman" panose="02020603050405020304" pitchFamily="18" charset="0"/>
              </a:rPr>
              <a:t>Dataset		    :  </a:t>
            </a:r>
            <a:r>
              <a:rPr lang="en-IN" sz="2000" spc="-1" dirty="0">
                <a:latin typeface="Times New Roman" panose="02020603050405020304" pitchFamily="18" charset="0"/>
                <a:cs typeface="Times New Roman" panose="02020603050405020304" pitchFamily="18" charset="0"/>
              </a:rPr>
              <a:t>Kaggle (Forex_Dataset_2024_USD)</a:t>
            </a:r>
            <a:endParaRPr lang="en-IN" sz="2000" b="1" spc="-1" dirty="0">
              <a:latin typeface="Times New Roman" panose="02020603050405020304" pitchFamily="18" charset="0"/>
              <a:cs typeface="Times New Roman" panose="02020603050405020304" pitchFamily="18" charset="0"/>
            </a:endParaRPr>
          </a:p>
          <a:p>
            <a:pPr marL="1187280" lvl="2" indent="-271800">
              <a:spcBef>
                <a:spcPts val="400"/>
              </a:spcBef>
              <a:tabLst>
                <a:tab pos="0" algn="l"/>
              </a:tabLst>
            </a:pPr>
            <a:r>
              <a:rPr lang="en-IN" sz="2000" spc="-1" dirty="0">
                <a:latin typeface="Times New Roman" panose="02020603050405020304" pitchFamily="18" charset="0"/>
                <a:cs typeface="Times New Roman" panose="02020603050405020304" pitchFamily="18" charset="0"/>
              </a:rPr>
              <a:t>	 </a:t>
            </a:r>
          </a:p>
          <a:p>
            <a:pPr marL="272880" indent="-271800">
              <a:lnSpc>
                <a:spcPct val="100000"/>
              </a:lnSpc>
              <a:spcBef>
                <a:spcPts val="400"/>
              </a:spcBef>
              <a:tabLst>
                <a:tab pos="0" algn="l"/>
              </a:tabLst>
            </a:pPr>
            <a:endParaRPr lang="en-IN" sz="20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1323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2"/>
          <p:cNvSpPr/>
          <p:nvPr/>
        </p:nvSpPr>
        <p:spPr>
          <a:xfrm>
            <a:off x="1057680" y="6356520"/>
            <a:ext cx="2395800" cy="363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fld id="{93ED530F-13E4-47B7-AC02-EBB4632E2E46}" type="datetime1">
              <a:rPr lang="en-US" sz="1200" b="0" strike="noStrike" spc="-1">
                <a:solidFill>
                  <a:srgbClr val="000000"/>
                </a:solidFill>
                <a:latin typeface="Times New Roman" panose="02020603050405020304" pitchFamily="18" charset="0"/>
                <a:ea typeface="SimSun"/>
                <a:cs typeface="Times New Roman" panose="02020603050405020304" pitchFamily="18" charset="0"/>
              </a:rPr>
              <a:t>4/1/2025</a:t>
            </a:fld>
            <a:endParaRPr lang="en-IN" sz="1200" b="0" strike="noStrike" spc="-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49B775E-1A1F-8E0F-C083-B8ABAC8D8040}"/>
              </a:ext>
            </a:extLst>
          </p:cNvPr>
          <p:cNvSpPr txBox="1"/>
          <p:nvPr/>
        </p:nvSpPr>
        <p:spPr>
          <a:xfrm>
            <a:off x="3318575" y="3244334"/>
            <a:ext cx="6094708" cy="1200329"/>
          </a:xfrm>
          <a:prstGeom prst="rect">
            <a:avLst/>
          </a:prstGeom>
          <a:noFill/>
        </p:spPr>
        <p:txBody>
          <a:bodyPr wrap="square">
            <a:spAutoFit/>
          </a:bodyPr>
          <a:lstStyle/>
          <a:p>
            <a:pPr marL="0" lvl="0" indent="0" algn="ctr" rtl="0">
              <a:spcBef>
                <a:spcPts val="0"/>
              </a:spcBef>
              <a:spcAft>
                <a:spcPts val="0"/>
              </a:spcAft>
              <a:buClr>
                <a:srgbClr val="FF0000"/>
              </a:buClr>
              <a:buSzPts val="5280"/>
              <a:buNone/>
            </a:pPr>
            <a:r>
              <a:rPr lang="en-US" sz="7200" b="1" dirty="0">
                <a:solidFill>
                  <a:srgbClr val="0000FF"/>
                </a:solidFill>
                <a:latin typeface="Times New Roman"/>
                <a:ea typeface="Times New Roman"/>
                <a:cs typeface="Times New Roman"/>
                <a:sym typeface="Times New Roman"/>
              </a:rPr>
              <a:t>Thank You !!</a:t>
            </a:r>
          </a:p>
        </p:txBody>
      </p:sp>
    </p:spTree>
    <p:extLst>
      <p:ext uri="{BB962C8B-B14F-4D97-AF65-F5344CB8AC3E}">
        <p14:creationId xmlns:p14="http://schemas.microsoft.com/office/powerpoint/2010/main" val="2190457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8656</TotalTime>
  <Words>1975</Words>
  <Application>Microsoft Office PowerPoint</Application>
  <PresentationFormat>Widescreen</PresentationFormat>
  <Paragraphs>350</Paragraphs>
  <Slides>38</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38</vt:i4>
      </vt:variant>
    </vt:vector>
  </HeadingPairs>
  <TitlesOfParts>
    <vt:vector size="45" baseType="lpstr">
      <vt:lpstr>Arial</vt:lpstr>
      <vt:lpstr>Calibri</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PowerPoint Presentation</vt:lpstr>
      <vt:lpstr>      </vt:lpstr>
      <vt:lpstr>      </vt:lpstr>
      <vt:lpstr>      </vt:lpstr>
      <vt:lpstr>      </vt:lpstr>
      <vt:lpstr>      </vt:lpstr>
      <vt:lpstr>      </vt:lpstr>
      <vt:lpstr>      </vt:lpstr>
      <vt:lpstr>      </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 IDENTIFICATION IN BLIND HOME  SECURITY SYSTEM USING IMAGE  PROCESSING</dc:title>
  <dc:subject/>
  <dc:creator>Gokul Kangeyan S</dc:creator>
  <dc:description/>
  <cp:lastModifiedBy>Gokul Kangeyan S</cp:lastModifiedBy>
  <cp:revision>826</cp:revision>
  <dcterms:created xsi:type="dcterms:W3CDTF">2016-12-19T14:05:00Z</dcterms:created>
  <dcterms:modified xsi:type="dcterms:W3CDTF">2025-04-01T06:12:07Z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ICV">
    <vt:lpwstr>CDA35DF777BD4C71B2AC03C890B28148</vt:lpwstr>
  </property>
  <property fmtid="{D5CDD505-2E9C-101B-9397-08002B2CF9AE}" pid="6" name="KSOProductBuildVer">
    <vt:lpwstr>1033-11.2.0.10323</vt:lpwstr>
  </property>
  <property fmtid="{D5CDD505-2E9C-101B-9397-08002B2CF9AE}" pid="7" name="LinksUpToDate">
    <vt:bool>false</vt:bool>
  </property>
  <property fmtid="{D5CDD505-2E9C-101B-9397-08002B2CF9AE}" pid="8" name="MMClips">
    <vt:i4>0</vt:i4>
  </property>
  <property fmtid="{D5CDD505-2E9C-101B-9397-08002B2CF9AE}" pid="9" name="Notes">
    <vt:i4>12</vt:i4>
  </property>
  <property fmtid="{D5CDD505-2E9C-101B-9397-08002B2CF9AE}" pid="10" name="PresentationFormat">
    <vt:lpwstr>Widescreen</vt:lpwstr>
  </property>
  <property fmtid="{D5CDD505-2E9C-101B-9397-08002B2CF9AE}" pid="11" name="ScaleCrop">
    <vt:bool>false</vt:bool>
  </property>
  <property fmtid="{D5CDD505-2E9C-101B-9397-08002B2CF9AE}" pid="12" name="ShareDoc">
    <vt:bool>false</vt:bool>
  </property>
  <property fmtid="{D5CDD505-2E9C-101B-9397-08002B2CF9AE}" pid="13" name="Slides">
    <vt:i4>38</vt:i4>
  </property>
</Properties>
</file>